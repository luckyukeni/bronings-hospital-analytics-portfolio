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431775c7-6374-26f1-6d20-0d97675b399b}">
          <p14:sldIdLst>
            <p14:sldId id="256"/>
          </p14:sldIdLst>
        </p14:section>
        <p14:section name="Headline" id="{af4c2844-d8ca-bba7-e5c4-9de381f9f61f}">
          <p14:sldIdLst>
            <p14:sldId id="257"/>
          </p14:sldIdLst>
        </p14:section>
        <p14:section name="Current performance" id="{7c659b5d-d211-884f-ca66-ff97ad683c57}">
          <p14:sldIdLst>
            <p14:sldId id="258"/>
            <p14:sldId id="259"/>
          </p14:sldIdLst>
        </p14:section>
        <p14:section name="Data quality" id="{4bc48f19-587c-2a47-bd7c-35932602901e}">
          <p14:sldIdLst>
            <p14:sldId id="260"/>
            <p14:sldId id="261"/>
          </p14:sldIdLst>
        </p14:section>
        <p14:section name="Investigation" id="{2c239d96-d9e6-60c1-9b39-e4390113f427}">
          <p14:sldIdLst>
            <p14:sldId id="262"/>
            <p14:sldId id="263"/>
          </p14:sldIdLst>
        </p14:section>
        <p14:section name="KPI framework" id="{553e4883-168b-ab65-772f-57ad34fc52e2}">
          <p14:sldIdLst>
            <p14:sldId id="264"/>
          </p14:sldIdLst>
        </p14:section>
        <p14:section name="Dashboards" id="{5de27295-2c55-c3f6-9274-e910fb1d36be}">
          <p14:sldIdLst>
            <p14:sldId id="265"/>
            <p14:sldId id="266"/>
          </p14:sldIdLst>
        </p14:section>
        <p14:section name="Recommendations" id="{df0d32f6-2b15-9f30-7707-a8391a3e1d59}">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3087"/>
                </a:solidFill>
                <a:latin typeface="+mn-lt"/>
              </a:defRPr>
            </a:pPr>
            <a:r>
              <a:rPr sz="1400" b="0" i="0" u="none" strike="noStrike">
                <a:solidFill>
                  <a:srgbClr val="003087"/>
                </a:solidFill>
                <a:latin typeface="+mn-lt"/>
              </a:rPr>
              <a:t>Rows passing every check, by source system (target 95%)</a:t>
            </a:r>
          </a:p>
        </c:rich>
      </c:tx>
      <c:layout/>
      <c:overlay val="0"/>
    </c:title>
    <c:autoTitleDeleted val="0"/>
    <c:plotArea>
      <c:layout/>
      <c:barChart>
        <c:barDir val="bar"/>
        <c:grouping val="clustered"/>
        <c:varyColors val="0"/>
        <c:ser>
          <c:idx val="0"/>
          <c:order val="0"/>
          <c:tx>
            <c:strRef>
              <c:f>Sheet1!$B$1</c:f>
              <c:strCache>
                <c:ptCount val="1"/>
                <c:pt idx="0">
                  <c:v>DQ score %</c:v>
                </c:pt>
              </c:strCache>
            </c:strRef>
          </c:tx>
          <c:spPr>
            <a:solidFill>
              <a:srgbClr val="005EB8"/>
            </a:solidFill>
            <a:effectLst/>
          </c:spPr>
          <c:invertIfNegative val="0"/>
          <c:dLbls>
            <c:numFmt formatCode="0.0&quot;%&quot;" sourceLinked="0"/>
            <c:txPr>
              <a:bodyPr/>
              <a:lstStyle/>
              <a:p>
                <a:pPr>
                  <a:defRPr b="0" i="0" strike="noStrike" sz="1400" u="none">
                    <a:solidFill>
                      <a:srgbClr val="003087"/>
                    </a:solidFill>
                    <a:latin typeface="+mn-lt"/>
                  </a:defRPr>
                </a:pPr>
              </a:p>
            </c:txPr>
            <c:showLegendKey val="0"/>
            <c:showVal val="1"/>
            <c:showCatName val="0"/>
            <c:showSerName val="0"/>
            <c:showPercent val="0"/>
            <c:showBubbleSize val="0"/>
            <c:showLeaderLines val="0"/>
          </c:dLbls>
          <c:cat>
            <c:multiLvlStrRef>
              <c:f>Sheet1!$A$2:$A$6</c:f>
              <c:multiLvlStrCache>
                <c:ptCount val="5"/>
                <c:lvl>
                  <c:pt idx="0">
                    <c:v>Workforce</c:v>
                  </c:pt>
                  <c:pt idx="1">
                    <c:v>Outpatients</c:v>
                  </c:pt>
                  <c:pt idx="2">
                    <c:v>Inpatients</c:v>
                  </c:pt>
                  <c:pt idx="3">
                    <c:v>Theatres</c:v>
                  </c:pt>
                  <c:pt idx="4">
                    <c:v>ED</c:v>
                  </c:pt>
                </c:lvl>
              </c:multiLvlStrCache>
            </c:multiLvlStrRef>
          </c:cat>
          <c:val>
            <c:numRef>
              <c:f>Sheet1!$B$2:$B$6</c:f>
              <c:numCache>
                <c:formatCode>General</c:formatCode>
                <c:ptCount val="5"/>
                <c:pt idx="0">
                  <c:v>94.7</c:v>
                </c:pt>
                <c:pt idx="1">
                  <c:v>93.3</c:v>
                </c:pt>
                <c:pt idx="2">
                  <c:v>79.9</c:v>
                </c:pt>
                <c:pt idx="3">
                  <c:v>69.7</c:v>
                </c:pt>
                <c:pt idx="4">
                  <c:v>56.6</c:v>
                </c:pt>
              </c:numCache>
            </c:numRef>
          </c:val>
        </c:ser>
        <c:dLbls>
          <c:numFmt formatCode="0.0&quot;%&quot;" sourceLinked="0"/>
          <c:txPr>
            <a:bodyPr/>
            <a:lstStyle/>
            <a:p>
              <a:pPr>
                <a:defRPr b="0" i="0" strike="noStrike" sz="1400" u="none">
                  <a:solidFill>
                    <a:srgbClr val="00308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425563"/>
                </a:solidFill>
                <a:latin typeface="+mn-lt"/>
              </a:defRPr>
            </a:pPr>
            <a:endParaRPr lang="en-US"/>
          </a:p>
        </c:txPr>
        <c:crossAx val="2094734552"/>
        <c:crosses val="autoZero"/>
        <c:auto val="1"/>
        <c:lblAlgn val="ctr"/>
        <c:noMultiLvlLbl val="1"/>
      </c:catAx>
      <c:valAx>
        <c:axId val="2094734552"/>
        <c:scaling>
          <c:orientation val="minMax"/>
          <c:max val="10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03087"/>
                </a:solidFill>
                <a:latin typeface="+mn-lt"/>
              </a:defRPr>
            </a:pPr>
            <a:r>
              <a:rPr sz="1400" b="0" i="0" u="none" strike="noStrike">
                <a:solidFill>
                  <a:srgbClr val="003087"/>
                </a:solidFill>
                <a:latin typeface="+mn-lt"/>
              </a:rPr>
              <a:t>RTT 18-week compliance by specialty (standard 92%)</a:t>
            </a:r>
          </a:p>
        </c:rich>
      </c:tx>
      <c:layout/>
      <c:overlay val="0"/>
    </c:title>
    <c:autoTitleDeleted val="0"/>
    <c:plotArea>
      <c:layout/>
      <c:barChart>
        <c:barDir val="col"/>
        <c:grouping val="clustered"/>
        <c:varyColors val="0"/>
        <c:ser>
          <c:idx val="0"/>
          <c:order val="0"/>
          <c:tx>
            <c:strRef>
              <c:f>Sheet1!$B$1</c:f>
              <c:strCache>
                <c:ptCount val="1"/>
                <c:pt idx="0">
                  <c:v>RTT compliance %</c:v>
                </c:pt>
              </c:strCache>
            </c:strRef>
          </c:tx>
          <c:spPr>
            <a:solidFill>
              <a:srgbClr val="005EB8"/>
            </a:solidFill>
            <a:effectLst/>
          </c:spPr>
          <c:invertIfNegative val="0"/>
          <c:dLbls>
            <c:numFmt formatCode="0&quot;%&quot;" sourceLinked="0"/>
            <c:txPr>
              <a:bodyPr/>
              <a:lstStyle/>
              <a:p>
                <a:pPr>
                  <a:defRPr b="0" i="0" strike="noStrike" sz="1200" u="none">
                    <a:solidFill>
                      <a:srgbClr val="003087"/>
                    </a:solidFill>
                    <a:latin typeface="+mn-lt"/>
                  </a:defRPr>
                </a:pPr>
              </a:p>
            </c:txPr>
            <c:showLegendKey val="0"/>
            <c:showVal val="1"/>
            <c:showCatName val="0"/>
            <c:showSerName val="0"/>
            <c:showPercent val="0"/>
            <c:showBubbleSize val="0"/>
            <c:showLeaderLines val="0"/>
          </c:dLbls>
          <c:cat>
            <c:multiLvlStrRef>
              <c:f>Sheet1!$A$2:$A$11</c:f>
              <c:multiLvlStrCache>
                <c:ptCount val="10"/>
                <c:lvl>
                  <c:pt idx="0">
                    <c:v>RS</c:v>
                  </c:pt>
                  <c:pt idx="1">
                    <c:v>OR</c:v>
                  </c:pt>
                  <c:pt idx="2">
                    <c:v>GYN</c:v>
                  </c:pt>
                  <c:pt idx="3">
                    <c:v>RHE</c:v>
                  </c:pt>
                  <c:pt idx="4">
                    <c:v>OPH</c:v>
                  </c:pt>
                  <c:pt idx="5">
                    <c:v>GS</c:v>
                  </c:pt>
                  <c:pt idx="6">
                    <c:v>CS</c:v>
                  </c:pt>
                  <c:pt idx="7">
                    <c:v>URO</c:v>
                  </c:pt>
                  <c:pt idx="8">
                    <c:v>GM</c:v>
                  </c:pt>
                  <c:pt idx="9">
                    <c:v>EM</c:v>
                  </c:pt>
                </c:lvl>
              </c:multiLvlStrCache>
            </c:multiLvlStrRef>
          </c:cat>
          <c:val>
            <c:numRef>
              <c:f>Sheet1!$B$2:$B$11</c:f>
              <c:numCache>
                <c:formatCode>General</c:formatCode>
                <c:ptCount val="10"/>
                <c:pt idx="0">
                  <c:v>0</c:v>
                </c:pt>
                <c:pt idx="1">
                  <c:v>10.5</c:v>
                </c:pt>
                <c:pt idx="2">
                  <c:v>11.1</c:v>
                </c:pt>
                <c:pt idx="3">
                  <c:v>16.7</c:v>
                </c:pt>
                <c:pt idx="4">
                  <c:v>16.7</c:v>
                </c:pt>
                <c:pt idx="5">
                  <c:v>20</c:v>
                </c:pt>
                <c:pt idx="6">
                  <c:v>20</c:v>
                </c:pt>
                <c:pt idx="7">
                  <c:v>31.3</c:v>
                </c:pt>
                <c:pt idx="8">
                  <c:v>50</c:v>
                </c:pt>
                <c:pt idx="9">
                  <c:v>100</c:v>
                </c:pt>
              </c:numCache>
            </c:numRef>
          </c:val>
        </c:ser>
        <c:dLbls>
          <c:numFmt formatCode="0&quot;%&quot;" sourceLinked="0"/>
          <c:txPr>
            <a:bodyPr/>
            <a:lstStyle/>
            <a:p>
              <a:pPr>
                <a:defRPr b="0" i="0" strike="noStrike" sz="1200" u="none">
                  <a:solidFill>
                    <a:srgbClr val="00308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25563"/>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Good morning. I'm Lucky Ukeni, the Trust's analyst. Over the last nine weeks I've rebuilt our performance reporting from the raw extracts upwards: data quality audit, SQL investigation, an agreed KPI framework, dashboards in Power BI and Tableau on Snowflake, and an automated Monday report.
Today I'll do four things in 20 minutes: tell you where we really are, show you what was wrong with the data and what I've fixed, share the five findings that matter most, and ask you to approve three recommendations with their financial impact. Every number I quote comes from our own Q1 2025 extracts, and I'll give you the data-quality caveat with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[0:20–0:50 — 30 seconds] One number. 41.98% of patients on an open referral-to-treatment pathway are within 18 weeks. The standard is 92%.
The scorecard this Board has been seeing says 74.8%. That figure comes from a pivot table that hasn't been refreshed since August 2024. So the first message is uncomfortable: we are further from target than the Board has been told.
The second message is better: the reporting problem is already fixed, and the performance problem has a plan, which I'll come to at the end.
Caveat if asked: this is the outpatient extract (131 measurable open pathways), not the full patient tracking list. I'm asking for the full PTL to confirm it before week one of the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[0:50–2:20 — 1.5 minutes] Three standards are failing.
RTT: 41.98% against 92%. Nine of ten specialties are Red; Orthopaedics is worst at 10.5%, with 17 of 19 open pathways over 18 weeks.
ED four-hour: 83.2% against the 95% constitutional standard. We meet the 78% interim target for the quarter, but in 4 of 25 weeks we fell below it, at worst 68%. Data caveat: 39 breach flags are blank. If every one of those was a breach the figure would be 79.9%, so the honest answer is "between 79.9% and 83.2%". Recalculating from arrival and departure times gives 83.1%, inside that range.
Theatres: 64.2% elective session utilisation against the GIRFT benchmark of 85%. That gap is worth about £180,000 a month. Finance quotes 71.6%; both are arithmetically right but measure different things. I'll come back to which one the Board should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[2:20–3:50 — 1.5 minutes] Behind those three headlines.
DNA: 13.1%, calculated as DNAs divided by attended, DNA, cancelled and referred appointments. That's against a 10% NHS benchmark and our own 8% target. In one quarter that is 76 appointment slots lost, and Orthopaedics, the specialty with the worst waits, has the worst DNA rate at 36.2%.
Agency: 16.6% of shifts, against 8%, costing £97,020 in eight weeks. It is 15–19% on every ward, so this is a Trust-wide vacancy problem, not one ward.
Data quality: 81.3% of rows pass every check across the five systems. Our DQMI is 52 against a threshold of 75.
Readmissions are Amber at 10.25%: 9.0% on recorded flags, 10.25% once 44 blank flags are back-filled using the 30-day rule. The Medical Director may want to challenge that, and I have the workings.
Two things are working: length of stay at 3.88 days and LWBS at 2.4%. I want the Board to see that not everything is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[3:50–5:20 — 1.5 minutes] Why should you believe my numbers when the old ones were wrong? Because I started by auditing the data. I logged 63 issues across the five source systems and scored every dataset on completeness, validity, uniqueness and consistency.
Only workforce and outpatients come close to the 95% standard. ED is lowest at 56.6%, mainly because 261 attendances carry departure codes like "DIED" and "LEFT" that are not credible, 121 have no NHS Number and 63 have missing times. Inpatients are 79.9%: blank readmission flags, blank HRG codes and open episodes.
Two issues matter beyond reporting. First, 16 NHS Numbers belong to more than one person by name or date of birth. That is a patient-safety and information-governance risk, and it's been referred to the IG lead. Second, there is no common patient key between PAS, EHR and EDIS, so we cannot follow a patient from referral to admission. And we had three versions of the DNA rate in circulation, which is how the Board ended up with figures that didn't agree.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[5:20–6:50 — 1.5 minutes] Here's what has changed.
The RTT figure now comes from live, cleaned data instead of a pivot table nobody refreshed.
The DNA rate has one definition, signed off in the KPI workshop: DNAs over attended, DNA, cancelled and referred. 13.1%, everywhere.
Theatre utilisation has one headline measure, sessions used over sessions available in elective theatres, which is the GIRFT basis, so it's comparable with the 85% benchmark. Finance's hours-based 71.6% is still reported, clearly labelled, alongside it.
The cleaning rules are applied once, in Snowflake views, rather than by hand in every spreadsheet. Power BI, Tableau and the Python report all read the same views, so they show the same numbers.
Sarah's 90-minute Monday report now runs in under a second and is scheduled for 7am. It no longer lapses when she's on leave, and it has an audit log. The data quality score now updates every week, ready for the DSP Toolkit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[6:50–8:50 — 2 minutes] Twelve SQL investigations; here are the five findings that matter.
Finding one: nine of ten specialties are Red on RTT. Only Emergency Medicine meets 92%. Respiratory has every one of its nine open pathways in breach. The 74.8% headline hid all of this.
Finding two: the problem is concentrated in Orthopaedics. 17 of 19 open pathways are breaching, the average wait is 253 days, and the longest is 423 days, which is 60.4 weeks. The same specialty's clinic, CL-103, misses 37% of its appointments. So Orthopaedics has the longest waits and wastes the most capacity on DNAs. That's where the recovery should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[8:50–10:50 — 2 minutes] Finding three: Emergency Medicine reports a 0% DNA rate, which looks excellent, but consultant C-1009 cancels 29.7% of appointments, three times anyone else. The likely explanation is that DNAs are being coded as Trust cancellations. That flatters the DNA rate and makes it look like the Trust is cancelling patients. Until it's checked with the clinic manager, EM's 0% should not be treated as best practice.
Finding four: 16 NHS Numbers are attached to more than one person. That's a patient-safety risk, because letters or results could reach the wrong patient. It's referred to the IG lead for a PDS trace. Separately, no outpatient patient can be matched to the inpatient or ED data, so we can't yet track a pathway from referral to admission.
Finding five: money. 28 inpatient episodes have no HRG code, which is £51,800 of income we won't be paid unless they're coded before the SUS deadline. Eight of them, £14,800, are in Emergency Medicine. And £97,020 of agency spend in eight weeks, at 15–19% of shifts on every ward. That points to a Trust-wide vacancy problem, not one badly run 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[10:50–12:50 — 2 minutes] The reason the Board had three DNA rates is that nobody owned the definition. The KPI framework fixes that.
There are 18 KPIs across six domains. Each has one written formula, one named owner, one source system, a target and RAG thresholds. The definitions were agreed in Sarah Okafor's workshop.
The example at the bottom: DNA rate is DNAs over attended, DNA, cancelled and referred appointments. That gives 13.1%, owned by the Performance Manager, sourced from PAS through Snowflake. Every dashboard and report uses exactly that formula.
Two things I'd highlight. Theatre utilisation is defined as two labelled measures, sessions-based for performance and hours-based for Finance, so the argument doesn't come back. And two of the 18 are data-quality KPIs, DQMI and RTT clock accuracy, because we can't manage performance with data we can't trust.
What I'm asking for: Board endorsement of the framework, so these become the only definitions used in Board papers.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[12:50–14:20 — 1.5 minutes] This is the Board's new view. The Power BI report has six pages: an executive summary, then ED, outpatients, capacity, finance and workforce. It reads directly from the cleaned Snowflake views.
On the left, the executive summary: the KPI cards, the RTT RAG tile in red, and elective theatre utilisation against the 85% GIRFT line. On the right, the outpatient page: DNA rate by specialty against the target, the rolling 12-week average wait, which is about 90 days, and the 12-week waiting-list forecast.
The important point is that the 12 DAX measures reproduce the framework exactly: DNA 13.13%, RTT 41.98%. If you see a number in a Board paper, you can find the same number here, calculated the same way.
Presenter note: refresh these screenshots on the morning of the Board (the YTD Variance card now shows £49,711 in full).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[14:20–15:50 — 1.5 minutes] The same dashboard published to Tableau Public, which anyone, including the NHS England review team, can open with a link: six KPI tiles, ED weekly compliance against 95% and 78%, the waiting-list trend, theatre utilisation against 85%, and agency share by ward against 8%.
The diagram on the right is why the figures agree. The source systems feed Snowflake. The cleaning rules are applied once, in views. Power BI, Tableau and the Python Monday report all read those views. So RTT is 41.98 and DNA is 13.13 whichever tool you open. That consistency is what the review team will test, and it's what we didn't have three months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[15:50–18:50 — 3 minutes] Three decisions.
One: validate and treat the longest waiters, starting with Orthopaedics. Validate the full patient tracking list within two weeks, because our extract is 131 pathways and the brief puts 312 patients at risk of 52-week breaches. Treat the 11 patients already at 40-plus weeks. Introduce text reminders and partial booking to halve DNAs, freeing around 38 slots a quarter at no cost. Financially: preventing the 9 patients at 40–52 weeks from tipping over avoids £126,000 in penalties at £14,000 each, and the full-list exposure is up to £4.37m. Owner: Director of Operations.
Two: recover elective theatre capacity. Adopt the one GIRFT measure and reallocate persistently under-used T1–T3 sessions to the Orthopaedics and Urology backlog, targeting 75% by Q2. Every point of utilisation is worth about £8,650 a month. Getting from 64.2% to 75% recovers around £93,000 a month, £1.1m a year, and it is the main lever on recommendation one. Owner: Theatres Manager.
Three: fix the data that drives income. Code the 28 uncoded episodes before the SUS deadline: £51,800 now, which is about £110,000 a year at the rate we see in six months of data. Complete the ED and readmission flags. Put an approval control on agency shifts to move from 16.6% towards 8%, about £325,000 a year. Together that's about £435,000 a year. Reach DQMI 75, which protects £380,000 of CQUIN. Owner: Finance Business Partner with the IG lead.
The ask: approve the three actions and owners today. I'll report progress to the next Board from the automated report, so you'll see the same figures I see. [18:50–20:00] Thank you.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0308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108813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657600"/>
            <a:ext cx="10881360" cy="128016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9601200" cy="274320"/>
          </a:xfrm>
          <a:prstGeom prst="rect">
            <a:avLst/>
          </a:prstGeom>
          <a:noFill/>
          <a:ln/>
        </p:spPr>
        <p:txBody>
          <a:bodyPr wrap="square" lIns="0" tIns="0" rIns="0" bIns="0" rtlCol="0" anchor="ctr"/>
          <a:lstStyle/>
          <a:p>
            <a:pPr indent="0" marL="0">
              <a:buNone/>
            </a:pPr>
            <a:r>
              <a:rPr lang="en-US" sz="900" dirty="0">
                <a:solidFill>
                  <a:schemeClr val="accent5"/>
                </a:solidFill>
              </a:rPr>
              <a:t>Bronings University Hospital Group  ·  Board of Directors  ·  March 2025  ·  Q1 2025 extract (synthetic training data)</a:t>
            </a:r>
            <a:endParaRPr lang="en-US" sz="9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2011680"/>
            <a:ext cx="10881360" cy="1463040"/>
          </a:xfrm>
          <a:prstGeom prst="rect">
            <a:avLst/>
          </a:prstGeom>
          <a:noFill/>
          <a:ln/>
        </p:spPr>
        <p:txBody>
          <a:bodyPr wrap="square" lIns="0" tIns="0" rIns="0" bIns="0" rtlCol="0" anchor="b"/>
          <a:lstStyle/>
          <a:p>
            <a:pPr algn="l" indent="0" marL="0">
              <a:buNone/>
            </a:pPr>
            <a:r>
              <a:rPr lang="en-US" sz="4000" b="1" dirty="0">
                <a:solidFill>
                  <a:schemeClr val="bg1"/>
                </a:solidFill>
              </a:rPr>
              <a:t>Performance, data quality and recovery</a:t>
            </a:r>
            <a:endParaRPr lang="en-US" sz="4000" dirty="0"/>
          </a:p>
        </p:txBody>
      </p:sp>
      <p:sp>
        <p:nvSpPr>
          <p:cNvPr id="3" name="Text 0"/>
          <p:cNvSpPr/>
          <p:nvPr>
            <p:ph idx="101" type="body" hasCustomPrompt="1"/>
          </p:nvPr>
        </p:nvSpPr>
        <p:spPr>
          <a:xfrm>
            <a:off x="640080" y="3657600"/>
            <a:ext cx="10881360" cy="1280160"/>
          </a:xfrm>
          <a:prstGeom prst="rect">
            <a:avLst/>
          </a:prstGeom>
          <a:noFill/>
          <a:ln/>
        </p:spPr>
        <p:txBody>
          <a:bodyPr wrap="square" lIns="0" tIns="0" rIns="0" bIns="0" rtlCol="0" anchor="t"/>
          <a:lstStyle/>
          <a:p>
            <a:pPr algn="l" indent="0" marL="0">
              <a:buNone/>
            </a:pPr>
            <a:r>
              <a:rPr lang="en-US" sz="1800" dirty="0">
                <a:solidFill>
                  <a:schemeClr val="bg2"/>
                </a:solidFill>
              </a:rPr>
              <a:t>Report to the Board of Directors, ahead of the NHS England review (24 March 2025)</a:t>
            </a:r>
            <a:endParaRPr lang="en-US" sz="1800" dirty="0"/>
          </a:p>
          <a:p>
            <a:pPr algn="l" indent="0" marL="0">
              <a:buNone/>
            </a:pPr>
            <a:r>
              <a:rPr lang="en-US" sz="1600" dirty="0">
                <a:solidFill>
                  <a:schemeClr val="accent6"/>
                </a:solidFill>
              </a:rPr>
              <a:t>Lucky Ukeni, Advanced Healthcare Data Analyst</a:t>
            </a:r>
            <a:endParaRPr lang="en-US" sz="1800" dirty="0"/>
          </a:p>
        </p:txBody>
      </p:sp>
      <p:sp>
        <p:nvSpPr>
          <p:cNvPr id="4" name="rag-1"/>
          <p:cNvSpPr/>
          <p:nvPr/>
        </p:nvSpPr>
        <p:spPr>
          <a:xfrm>
            <a:off x="640080" y="1325880"/>
            <a:ext cx="320040" cy="320040"/>
          </a:xfrm>
          <a:prstGeom prst="ellipse">
            <a:avLst/>
          </a:prstGeom>
          <a:solidFill>
            <a:srgbClr val="DA291C"/>
          </a:solidFill>
          <a:ln w="12700">
            <a:solidFill>
              <a:srgbClr val="DA291C"/>
            </a:solidFill>
            <a:prstDash val="solid"/>
          </a:ln>
        </p:spPr>
      </p:sp>
      <p:sp>
        <p:nvSpPr>
          <p:cNvPr id="5" name="rag-2"/>
          <p:cNvSpPr/>
          <p:nvPr/>
        </p:nvSpPr>
        <p:spPr>
          <a:xfrm>
            <a:off x="1143000" y="1325880"/>
            <a:ext cx="320040" cy="320040"/>
          </a:xfrm>
          <a:prstGeom prst="ellipse">
            <a:avLst/>
          </a:prstGeom>
          <a:solidFill>
            <a:srgbClr val="FFB81C"/>
          </a:solidFill>
          <a:ln w="12700">
            <a:solidFill>
              <a:srgbClr val="FFB81C"/>
            </a:solidFill>
            <a:prstDash val="solid"/>
          </a:ln>
        </p:spPr>
      </p:sp>
      <p:sp>
        <p:nvSpPr>
          <p:cNvPr id="6" name="rag-3"/>
          <p:cNvSpPr/>
          <p:nvPr/>
        </p:nvSpPr>
        <p:spPr>
          <a:xfrm>
            <a:off x="1645920" y="1325880"/>
            <a:ext cx="320040" cy="320040"/>
          </a:xfrm>
          <a:prstGeom prst="ellipse">
            <a:avLst/>
          </a:prstGeom>
          <a:solidFill>
            <a:srgbClr val="009639"/>
          </a:solidFill>
          <a:ln w="12700">
            <a:solidFill>
              <a:srgbClr val="009639"/>
            </a:solidFill>
            <a:prstDash val="solid"/>
          </a:ln>
        </p:spPr>
      </p:sp>
      <p:sp>
        <p:nvSpPr>
          <p:cNvPr id="7" name="txt-4"/>
          <p:cNvSpPr txBox="1"/>
          <p:nvPr/>
        </p:nvSpPr>
        <p:spPr>
          <a:xfrm>
            <a:off x="640080" y="5669280"/>
            <a:ext cx="10515600" cy="548640"/>
          </a:xfrm>
          <a:prstGeom prst="rect">
            <a:avLst/>
          </a:prstGeom>
          <a:noFill/>
          <a:ln/>
        </p:spPr>
        <p:txBody>
          <a:bodyPr wrap="square" lIns="0" tIns="0" rIns="0" bIns="0" rtlCol="0" anchor="t"/>
          <a:lstStyle/>
          <a:p>
            <a:pPr indent="0" marL="0">
              <a:buNone/>
            </a:pPr>
            <a:r>
              <a:rPr lang="en-US" sz="1200" dirty="0">
                <a:solidFill>
                  <a:schemeClr val="bg2"/>
                </a:solidFill>
              </a:rPr>
              <a:t>Every figure in this deck comes from the Q1 2025 extracts (Jan–Mar 2025), cleaned once in Snowflake and shown identically in Power BI, Tableau and the automated Python report.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Fewer than half of our waiting patients are within 18 weeks</a:t>
            </a:r>
            <a:endParaRPr lang="en-US" sz="2800" dirty="0"/>
          </a:p>
        </p:txBody>
      </p:sp>
      <p:sp>
        <p:nvSpPr>
          <p:cNvPr id="3" name="card-5"/>
          <p:cNvSpPr/>
          <p:nvPr/>
        </p:nvSpPr>
        <p:spPr>
          <a:xfrm>
            <a:off x="548640" y="1371600"/>
            <a:ext cx="5120640" cy="4480560"/>
          </a:xfrm>
          <a:prstGeom prst="roundRect">
            <a:avLst>
              <a:gd name="adj" fmla="val 1633"/>
            </a:avLst>
          </a:prstGeom>
          <a:solidFill>
            <a:schemeClr val="tx2"/>
          </a:solidFill>
          <a:ln w="12700">
            <a:solidFill>
              <a:schemeClr val="tx2"/>
            </a:solidFill>
            <a:prstDash val="solid"/>
          </a:ln>
        </p:spPr>
      </p:sp>
      <p:sp>
        <p:nvSpPr>
          <p:cNvPr id="4" name="txt-6"/>
          <p:cNvSpPr txBox="1"/>
          <p:nvPr/>
        </p:nvSpPr>
        <p:spPr>
          <a:xfrm>
            <a:off x="822960" y="1737360"/>
            <a:ext cx="4572000" cy="1371600"/>
          </a:xfrm>
          <a:prstGeom prst="rect">
            <a:avLst/>
          </a:prstGeom>
          <a:noFill/>
          <a:ln/>
        </p:spPr>
        <p:txBody>
          <a:bodyPr wrap="square" lIns="0" tIns="0" rIns="0" bIns="0" rtlCol="0" anchor="t"/>
          <a:lstStyle/>
          <a:p>
            <a:pPr indent="0" marL="0">
              <a:buNone/>
            </a:pPr>
            <a:r>
              <a:rPr lang="en-US" sz="8000" b="1" dirty="0">
                <a:solidFill>
                  <a:schemeClr val="bg1"/>
                </a:solidFill>
              </a:rPr>
              <a:t>41.98%</a:t>
            </a:r>
            <a:endParaRPr lang="en-US" sz="8000" dirty="0"/>
          </a:p>
        </p:txBody>
      </p:sp>
      <p:sp>
        <p:nvSpPr>
          <p:cNvPr id="5" name="txt-7"/>
          <p:cNvSpPr txBox="1"/>
          <p:nvPr/>
        </p:nvSpPr>
        <p:spPr>
          <a:xfrm>
            <a:off x="822960" y="3200400"/>
            <a:ext cx="4572000" cy="365760"/>
          </a:xfrm>
          <a:prstGeom prst="rect">
            <a:avLst/>
          </a:prstGeom>
          <a:noFill/>
          <a:ln/>
        </p:spPr>
        <p:txBody>
          <a:bodyPr wrap="square" lIns="0" tIns="0" rIns="0" bIns="0" rtlCol="0" anchor="t"/>
          <a:lstStyle/>
          <a:p>
            <a:pPr indent="0" marL="0">
              <a:buNone/>
            </a:pPr>
            <a:r>
              <a:rPr lang="en-US" sz="2000" b="1" dirty="0">
                <a:solidFill>
                  <a:schemeClr val="bg1"/>
                </a:solidFill>
              </a:rPr>
              <a:t>RTT 18-week compliance</a:t>
            </a:r>
            <a:endParaRPr lang="en-US" sz="2000" dirty="0"/>
          </a:p>
        </p:txBody>
      </p:sp>
      <p:sp>
        <p:nvSpPr>
          <p:cNvPr id="6" name="txt-8"/>
          <p:cNvSpPr txBox="1"/>
          <p:nvPr/>
        </p:nvSpPr>
        <p:spPr>
          <a:xfrm>
            <a:off x="822960" y="3611880"/>
            <a:ext cx="4572000" cy="365760"/>
          </a:xfrm>
          <a:prstGeom prst="rect">
            <a:avLst/>
          </a:prstGeom>
          <a:noFill/>
          <a:ln/>
        </p:spPr>
        <p:txBody>
          <a:bodyPr wrap="square" lIns="0" tIns="0" rIns="0" bIns="0" rtlCol="0" anchor="t"/>
          <a:lstStyle/>
          <a:p>
            <a:pPr indent="0" marL="0">
              <a:buNone/>
            </a:pPr>
            <a:r>
              <a:rPr lang="en-US" sz="1600" dirty="0">
                <a:solidFill>
                  <a:schemeClr val="accent6"/>
                </a:solidFill>
              </a:rPr>
              <a:t>NHS Constitution standard: 92%</a:t>
            </a:r>
            <a:endParaRPr lang="en-US" sz="1600" dirty="0"/>
          </a:p>
        </p:txBody>
      </p:sp>
      <p:sp>
        <p:nvSpPr>
          <p:cNvPr id="7" name="rag-9"/>
          <p:cNvSpPr/>
          <p:nvPr/>
        </p:nvSpPr>
        <p:spPr>
          <a:xfrm>
            <a:off x="822960" y="4343400"/>
            <a:ext cx="411480" cy="411480"/>
          </a:xfrm>
          <a:prstGeom prst="ellipse">
            <a:avLst/>
          </a:prstGeom>
          <a:solidFill>
            <a:schemeClr val="accent2"/>
          </a:solidFill>
          <a:ln w="12700">
            <a:solidFill>
              <a:schemeClr val="accent2"/>
            </a:solidFill>
            <a:prstDash val="solid"/>
          </a:ln>
        </p:spPr>
      </p:sp>
      <p:sp>
        <p:nvSpPr>
          <p:cNvPr id="8" name="txt-10"/>
          <p:cNvSpPr txBox="1"/>
          <p:nvPr/>
        </p:nvSpPr>
        <p:spPr>
          <a:xfrm>
            <a:off x="1371600" y="4343400"/>
            <a:ext cx="4023360" cy="411480"/>
          </a:xfrm>
          <a:prstGeom prst="rect">
            <a:avLst/>
          </a:prstGeom>
          <a:noFill/>
          <a:ln/>
        </p:spPr>
        <p:txBody>
          <a:bodyPr wrap="square" lIns="0" tIns="0" rIns="0" bIns="0" rtlCol="0" anchor="ctr"/>
          <a:lstStyle/>
          <a:p>
            <a:pPr indent="0" marL="0">
              <a:buNone/>
            </a:pPr>
            <a:r>
              <a:rPr lang="en-US" sz="1600" b="1" dirty="0">
                <a:solidFill>
                  <a:schemeClr val="bg1"/>
                </a:solidFill>
              </a:rPr>
              <a:t>Red: 50 points below standard</a:t>
            </a:r>
            <a:endParaRPr lang="en-US" sz="1600" dirty="0"/>
          </a:p>
        </p:txBody>
      </p:sp>
      <p:sp>
        <p:nvSpPr>
          <p:cNvPr id="9" name="txt-11"/>
          <p:cNvSpPr txBox="1"/>
          <p:nvPr/>
        </p:nvSpPr>
        <p:spPr>
          <a:xfrm>
            <a:off x="822960" y="4983480"/>
            <a:ext cx="4572000" cy="640080"/>
          </a:xfrm>
          <a:prstGeom prst="rect">
            <a:avLst/>
          </a:prstGeom>
          <a:noFill/>
          <a:ln/>
        </p:spPr>
        <p:txBody>
          <a:bodyPr wrap="square" lIns="0" tIns="0" rIns="0" bIns="0" rtlCol="0" anchor="t"/>
          <a:lstStyle/>
          <a:p>
            <a:pPr indent="0" marL="0">
              <a:buNone/>
            </a:pPr>
            <a:r>
              <a:rPr lang="en-US" sz="1400" dirty="0">
                <a:solidFill>
                  <a:schemeClr val="bg2"/>
                </a:solidFill>
              </a:rPr>
              <a:t>76 of 131 open pathways have waited more than 18 weeks</a:t>
            </a:r>
            <a:endParaRPr lang="en-US" sz="1400" dirty="0"/>
          </a:p>
        </p:txBody>
      </p:sp>
      <p:sp>
        <p:nvSpPr>
          <p:cNvPr id="10" name="txt-12"/>
          <p:cNvSpPr txBox="1"/>
          <p:nvPr/>
        </p:nvSpPr>
        <p:spPr>
          <a:xfrm>
            <a:off x="6126480" y="1417320"/>
            <a:ext cx="1920240" cy="914400"/>
          </a:xfrm>
          <a:prstGeom prst="rect">
            <a:avLst/>
          </a:prstGeom>
          <a:noFill/>
          <a:ln/>
        </p:spPr>
        <p:txBody>
          <a:bodyPr wrap="square" lIns="0" tIns="0" rIns="0" bIns="0" rtlCol="0" anchor="ctr"/>
          <a:lstStyle/>
          <a:p>
            <a:pPr indent="0" marL="0">
              <a:buNone/>
            </a:pPr>
            <a:r>
              <a:rPr lang="en-US" sz="3600" b="1" dirty="0">
                <a:solidFill>
                  <a:schemeClr val="accent1"/>
                </a:solidFill>
              </a:rPr>
              <a:t>74.8%</a:t>
            </a:r>
            <a:endParaRPr lang="en-US" sz="3600" dirty="0"/>
          </a:p>
        </p:txBody>
      </p:sp>
      <p:sp>
        <p:nvSpPr>
          <p:cNvPr id="11" name="txt-13"/>
          <p:cNvSpPr txBox="1"/>
          <p:nvPr/>
        </p:nvSpPr>
        <p:spPr>
          <a:xfrm>
            <a:off x="8138160" y="1417320"/>
            <a:ext cx="3474720" cy="914400"/>
          </a:xfrm>
          <a:prstGeom prst="rect">
            <a:avLst/>
          </a:prstGeom>
          <a:noFill/>
          <a:ln/>
        </p:spPr>
        <p:txBody>
          <a:bodyPr wrap="square" lIns="0" tIns="0" rIns="0" bIns="0" rtlCol="0" anchor="ctr"/>
          <a:lstStyle/>
          <a:p>
            <a:pPr indent="0" marL="0">
              <a:buNone/>
            </a:pPr>
            <a:r>
              <a:rPr lang="en-US" sz="1500" dirty="0">
                <a:solidFill>
                  <a:schemeClr val="tx1"/>
                </a:solidFill>
              </a:rPr>
              <a:t>is what the Board scorecard reports. It comes from a pivot table last refreshed in August 2024.</a:t>
            </a:r>
            <a:endParaRPr lang="en-US" sz="1500" dirty="0"/>
          </a:p>
        </p:txBody>
      </p:sp>
      <p:sp>
        <p:nvSpPr>
          <p:cNvPr id="12" name="txt-14"/>
          <p:cNvSpPr txBox="1"/>
          <p:nvPr/>
        </p:nvSpPr>
        <p:spPr>
          <a:xfrm>
            <a:off x="6126480" y="2651760"/>
            <a:ext cx="1920240" cy="914400"/>
          </a:xfrm>
          <a:prstGeom prst="rect">
            <a:avLst/>
          </a:prstGeom>
          <a:noFill/>
          <a:ln/>
        </p:spPr>
        <p:txBody>
          <a:bodyPr wrap="square" lIns="0" tIns="0" rIns="0" bIns="0" rtlCol="0" anchor="ctr"/>
          <a:lstStyle/>
          <a:p>
            <a:pPr indent="0" marL="0">
              <a:buNone/>
            </a:pPr>
            <a:r>
              <a:rPr lang="en-US" sz="3600" b="1" dirty="0">
                <a:solidFill>
                  <a:schemeClr val="accent1"/>
                </a:solidFill>
              </a:rPr>
              <a:t>9 of 10</a:t>
            </a:r>
            <a:endParaRPr lang="en-US" sz="3600" dirty="0"/>
          </a:p>
        </p:txBody>
      </p:sp>
      <p:sp>
        <p:nvSpPr>
          <p:cNvPr id="13" name="txt-15"/>
          <p:cNvSpPr txBox="1"/>
          <p:nvPr/>
        </p:nvSpPr>
        <p:spPr>
          <a:xfrm>
            <a:off x="8138160" y="2651760"/>
            <a:ext cx="3474720" cy="914400"/>
          </a:xfrm>
          <a:prstGeom prst="rect">
            <a:avLst/>
          </a:prstGeom>
          <a:noFill/>
          <a:ln/>
        </p:spPr>
        <p:txBody>
          <a:bodyPr wrap="square" lIns="0" tIns="0" rIns="0" bIns="0" rtlCol="0" anchor="ctr"/>
          <a:lstStyle/>
          <a:p>
            <a:pPr indent="0" marL="0">
              <a:buNone/>
            </a:pPr>
            <a:r>
              <a:rPr lang="en-US" sz="1500" dirty="0">
                <a:solidFill>
                  <a:schemeClr val="tx1"/>
                </a:solidFill>
              </a:rPr>
              <a:t>specialties are Red. Only Emergency Medicine meets 92%.</a:t>
            </a:r>
            <a:endParaRPr lang="en-US" sz="1500" dirty="0"/>
          </a:p>
        </p:txBody>
      </p:sp>
      <p:sp>
        <p:nvSpPr>
          <p:cNvPr id="14" name="txt-16"/>
          <p:cNvSpPr txBox="1"/>
          <p:nvPr/>
        </p:nvSpPr>
        <p:spPr>
          <a:xfrm>
            <a:off x="6126480" y="3886200"/>
            <a:ext cx="1920240" cy="914400"/>
          </a:xfrm>
          <a:prstGeom prst="rect">
            <a:avLst/>
          </a:prstGeom>
          <a:noFill/>
          <a:ln/>
        </p:spPr>
        <p:txBody>
          <a:bodyPr wrap="square" lIns="0" tIns="0" rIns="0" bIns="0" rtlCol="0" anchor="ctr"/>
          <a:lstStyle/>
          <a:p>
            <a:pPr indent="0" marL="0">
              <a:buNone/>
            </a:pPr>
            <a:r>
              <a:rPr lang="en-US" sz="3600" b="1" dirty="0">
                <a:solidFill>
                  <a:schemeClr val="accent1"/>
                </a:solidFill>
              </a:rPr>
              <a:t>2</a:t>
            </a:r>
            <a:endParaRPr lang="en-US" sz="3600" dirty="0"/>
          </a:p>
        </p:txBody>
      </p:sp>
      <p:sp>
        <p:nvSpPr>
          <p:cNvPr id="15" name="txt-17"/>
          <p:cNvSpPr txBox="1"/>
          <p:nvPr/>
        </p:nvSpPr>
        <p:spPr>
          <a:xfrm>
            <a:off x="8138160" y="3886200"/>
            <a:ext cx="3474720" cy="914400"/>
          </a:xfrm>
          <a:prstGeom prst="rect">
            <a:avLst/>
          </a:prstGeom>
          <a:noFill/>
          <a:ln/>
        </p:spPr>
        <p:txBody>
          <a:bodyPr wrap="square" lIns="0" tIns="0" rIns="0" bIns="0" rtlCol="0" anchor="ctr"/>
          <a:lstStyle/>
          <a:p>
            <a:pPr indent="0" marL="0">
              <a:buNone/>
            </a:pPr>
            <a:r>
              <a:rPr lang="en-US" sz="1500" dirty="0">
                <a:solidFill>
                  <a:schemeClr val="tx1"/>
                </a:solidFill>
              </a:rPr>
              <a:t>patients have already waited more than 52 weeks; 9 more are at 40–52 weeks.</a:t>
            </a:r>
            <a:endParaRPr lang="en-US" sz="1500" dirty="0"/>
          </a:p>
        </p:txBody>
      </p:sp>
      <p:sp>
        <p:nvSpPr>
          <p:cNvPr id="16" name="card-18"/>
          <p:cNvSpPr/>
          <p:nvPr/>
        </p:nvSpPr>
        <p:spPr>
          <a:xfrm>
            <a:off x="6126480" y="5166360"/>
            <a:ext cx="5486400" cy="685800"/>
          </a:xfrm>
          <a:prstGeom prst="roundRect">
            <a:avLst>
              <a:gd name="adj" fmla="val 10667"/>
            </a:avLst>
          </a:prstGeom>
          <a:solidFill>
            <a:schemeClr val="bg2"/>
          </a:solidFill>
          <a:ln w="12700">
            <a:solidFill>
              <a:schemeClr val="bg2"/>
            </a:solidFill>
            <a:prstDash val="solid"/>
          </a:ln>
        </p:spPr>
      </p:sp>
      <p:sp>
        <p:nvSpPr>
          <p:cNvPr id="17" name="txt-19"/>
          <p:cNvSpPr txBox="1"/>
          <p:nvPr/>
        </p:nvSpPr>
        <p:spPr>
          <a:xfrm>
            <a:off x="6309360" y="5212080"/>
            <a:ext cx="5212080" cy="594360"/>
          </a:xfrm>
          <a:prstGeom prst="rect">
            <a:avLst/>
          </a:prstGeom>
          <a:noFill/>
          <a:ln/>
        </p:spPr>
        <p:txBody>
          <a:bodyPr wrap="square" lIns="0" tIns="0" rIns="0" bIns="0" rtlCol="0" anchor="ctr"/>
          <a:lstStyle/>
          <a:p>
            <a:pPr indent="0" marL="0">
              <a:buNone/>
            </a:pPr>
            <a:r>
              <a:rPr lang="en-US" sz="1400" b="1" dirty="0">
                <a:solidFill>
                  <a:schemeClr val="tx2"/>
                </a:solidFill>
              </a:rPr>
              <a:t>We are further from target than the Board has been told. Both the performance and the reporting are fixable before the review.</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Three constitutional and productivity standards are failing</a:t>
            </a:r>
            <a:endParaRPr lang="en-US" sz="2800" dirty="0"/>
          </a:p>
        </p:txBody>
      </p:sp>
      <p:sp>
        <p:nvSpPr>
          <p:cNvPr id="3" name="card-20"/>
          <p:cNvSpPr/>
          <p:nvPr/>
        </p:nvSpPr>
        <p:spPr>
          <a:xfrm>
            <a:off x="548640" y="1371600"/>
            <a:ext cx="3474720" cy="4663440"/>
          </a:xfrm>
          <a:prstGeom prst="roundRect">
            <a:avLst>
              <a:gd name="adj" fmla="val 2105"/>
            </a:avLst>
          </a:prstGeom>
          <a:solidFill>
            <a:schemeClr val="bg2"/>
          </a:solidFill>
          <a:ln w="12700">
            <a:solidFill>
              <a:schemeClr val="bg2"/>
            </a:solidFill>
            <a:prstDash val="solid"/>
          </a:ln>
        </p:spPr>
      </p:sp>
      <p:sp>
        <p:nvSpPr>
          <p:cNvPr id="4" name="rag-21"/>
          <p:cNvSpPr/>
          <p:nvPr/>
        </p:nvSpPr>
        <p:spPr>
          <a:xfrm>
            <a:off x="822960" y="1645920"/>
            <a:ext cx="365760" cy="365760"/>
          </a:xfrm>
          <a:prstGeom prst="ellipse">
            <a:avLst/>
          </a:prstGeom>
          <a:solidFill>
            <a:schemeClr val="accent2"/>
          </a:solidFill>
          <a:ln w="12700">
            <a:solidFill>
              <a:schemeClr val="accent2"/>
            </a:solidFill>
            <a:prstDash val="solid"/>
          </a:ln>
        </p:spPr>
      </p:sp>
      <p:sp>
        <p:nvSpPr>
          <p:cNvPr id="5" name="txt-22"/>
          <p:cNvSpPr txBox="1"/>
          <p:nvPr/>
        </p:nvSpPr>
        <p:spPr>
          <a:xfrm>
            <a:off x="1325880" y="1645920"/>
            <a:ext cx="2560320" cy="365760"/>
          </a:xfrm>
          <a:prstGeom prst="rect">
            <a:avLst/>
          </a:prstGeom>
          <a:noFill/>
          <a:ln/>
        </p:spPr>
        <p:txBody>
          <a:bodyPr wrap="square" lIns="0" tIns="0" rIns="0" bIns="0" rtlCol="0" anchor="ctr"/>
          <a:lstStyle/>
          <a:p>
            <a:pPr indent="0" marL="0">
              <a:buNone/>
            </a:pPr>
            <a:r>
              <a:rPr lang="en-US" sz="1800" b="1" dirty="0">
                <a:solidFill>
                  <a:schemeClr val="tx2"/>
                </a:solidFill>
              </a:rPr>
              <a:t>RTT 18 weeks</a:t>
            </a:r>
            <a:endParaRPr lang="en-US" sz="1800" dirty="0"/>
          </a:p>
        </p:txBody>
      </p:sp>
      <p:sp>
        <p:nvSpPr>
          <p:cNvPr id="6" name="txt-23"/>
          <p:cNvSpPr txBox="1"/>
          <p:nvPr/>
        </p:nvSpPr>
        <p:spPr>
          <a:xfrm>
            <a:off x="822960" y="2194560"/>
            <a:ext cx="3017520" cy="1005840"/>
          </a:xfrm>
          <a:prstGeom prst="rect">
            <a:avLst/>
          </a:prstGeom>
          <a:noFill/>
          <a:ln/>
        </p:spPr>
        <p:txBody>
          <a:bodyPr wrap="square" lIns="0" tIns="0" rIns="0" bIns="0" rtlCol="0" anchor="t"/>
          <a:lstStyle/>
          <a:p>
            <a:pPr indent="0" marL="0">
              <a:buNone/>
            </a:pPr>
            <a:r>
              <a:rPr lang="en-US" sz="5400" b="1" dirty="0">
                <a:solidFill>
                  <a:schemeClr val="tx2"/>
                </a:solidFill>
              </a:rPr>
              <a:t>41.98%</a:t>
            </a:r>
            <a:endParaRPr lang="en-US" sz="5400" dirty="0"/>
          </a:p>
        </p:txBody>
      </p:sp>
      <p:sp>
        <p:nvSpPr>
          <p:cNvPr id="7" name="txt-24"/>
          <p:cNvSpPr txBox="1"/>
          <p:nvPr/>
        </p:nvSpPr>
        <p:spPr>
          <a:xfrm>
            <a:off x="822960" y="3200400"/>
            <a:ext cx="3017520" cy="365760"/>
          </a:xfrm>
          <a:prstGeom prst="rect">
            <a:avLst/>
          </a:prstGeom>
          <a:noFill/>
          <a:ln/>
        </p:spPr>
        <p:txBody>
          <a:bodyPr wrap="square" lIns="0" tIns="0" rIns="0" bIns="0" rtlCol="0" anchor="t"/>
          <a:lstStyle/>
          <a:p>
            <a:pPr indent="0" marL="0">
              <a:buNone/>
            </a:pPr>
            <a:r>
              <a:rPr lang="en-US" sz="1400" b="1" dirty="0">
                <a:solidFill>
                  <a:schemeClr val="accent1"/>
                </a:solidFill>
              </a:rPr>
              <a:t>Standard 92%</a:t>
            </a:r>
            <a:endParaRPr lang="en-US" sz="1400" dirty="0"/>
          </a:p>
        </p:txBody>
      </p:sp>
      <p:sp>
        <p:nvSpPr>
          <p:cNvPr id="8" name="txt-25"/>
          <p:cNvSpPr txBox="1"/>
          <p:nvPr/>
        </p:nvSpPr>
        <p:spPr>
          <a:xfrm>
            <a:off x="822960" y="3703320"/>
            <a:ext cx="3017520" cy="1188720"/>
          </a:xfrm>
          <a:prstGeom prst="rect">
            <a:avLst/>
          </a:prstGeom>
          <a:noFill/>
          <a:ln/>
        </p:spPr>
        <p:txBody>
          <a:bodyPr wrap="square" lIns="0" tIns="0" rIns="0" bIns="0" rtlCol="0" anchor="t"/>
          <a:lstStyle/>
          <a:p>
            <a:pPr indent="0" marL="0">
              <a:buNone/>
            </a:pPr>
            <a:r>
              <a:rPr lang="en-US" sz="1400" dirty="0">
                <a:solidFill>
                  <a:schemeClr val="tx1"/>
                </a:solidFill>
              </a:rPr>
              <a:t>9 of 10 specialties Red. Orthopaedics is lowest at 10.5% (17 of 19 breaching).</a:t>
            </a:r>
            <a:endParaRPr lang="en-US" sz="1400" dirty="0"/>
          </a:p>
        </p:txBody>
      </p:sp>
      <p:sp>
        <p:nvSpPr>
          <p:cNvPr id="9" name="txt-26"/>
          <p:cNvSpPr txBox="1"/>
          <p:nvPr/>
        </p:nvSpPr>
        <p:spPr>
          <a:xfrm>
            <a:off x="822960" y="5029200"/>
            <a:ext cx="3017520" cy="822960"/>
          </a:xfrm>
          <a:prstGeom prst="rect">
            <a:avLst/>
          </a:prstGeom>
          <a:noFill/>
          <a:ln/>
        </p:spPr>
        <p:txBody>
          <a:bodyPr wrap="square" lIns="0" tIns="0" rIns="0" bIns="0" rtlCol="0" anchor="t"/>
          <a:lstStyle/>
          <a:p>
            <a:pPr indent="0" marL="0">
              <a:buNone/>
            </a:pPr>
            <a:r>
              <a:rPr lang="en-US" sz="1200" i="1" dirty="0">
                <a:solidFill>
                  <a:schemeClr val="accent5"/>
                </a:solidFill>
              </a:rPr>
              <a:t>Caveat: extract of 131 open pathways. Full PTL needed to confirm.</a:t>
            </a:r>
            <a:endParaRPr lang="en-US" sz="1200" dirty="0"/>
          </a:p>
        </p:txBody>
      </p:sp>
      <p:sp>
        <p:nvSpPr>
          <p:cNvPr id="10" name="card-27"/>
          <p:cNvSpPr/>
          <p:nvPr/>
        </p:nvSpPr>
        <p:spPr>
          <a:xfrm>
            <a:off x="4297680" y="1371600"/>
            <a:ext cx="3474720" cy="4663440"/>
          </a:xfrm>
          <a:prstGeom prst="roundRect">
            <a:avLst>
              <a:gd name="adj" fmla="val 2105"/>
            </a:avLst>
          </a:prstGeom>
          <a:solidFill>
            <a:schemeClr val="bg2"/>
          </a:solidFill>
          <a:ln w="12700">
            <a:solidFill>
              <a:schemeClr val="bg2"/>
            </a:solidFill>
            <a:prstDash val="solid"/>
          </a:ln>
        </p:spPr>
      </p:sp>
      <p:sp>
        <p:nvSpPr>
          <p:cNvPr id="11" name="rag-28"/>
          <p:cNvSpPr/>
          <p:nvPr/>
        </p:nvSpPr>
        <p:spPr>
          <a:xfrm>
            <a:off x="4572000" y="1645920"/>
            <a:ext cx="365760" cy="365760"/>
          </a:xfrm>
          <a:prstGeom prst="ellipse">
            <a:avLst/>
          </a:prstGeom>
          <a:solidFill>
            <a:schemeClr val="accent3"/>
          </a:solidFill>
          <a:ln w="12700">
            <a:solidFill>
              <a:schemeClr val="accent3"/>
            </a:solidFill>
            <a:prstDash val="solid"/>
          </a:ln>
        </p:spPr>
      </p:sp>
      <p:sp>
        <p:nvSpPr>
          <p:cNvPr id="12" name="txt-29"/>
          <p:cNvSpPr txBox="1"/>
          <p:nvPr/>
        </p:nvSpPr>
        <p:spPr>
          <a:xfrm>
            <a:off x="5074920" y="1645920"/>
            <a:ext cx="2560320" cy="365760"/>
          </a:xfrm>
          <a:prstGeom prst="rect">
            <a:avLst/>
          </a:prstGeom>
          <a:noFill/>
          <a:ln/>
        </p:spPr>
        <p:txBody>
          <a:bodyPr wrap="square" lIns="0" tIns="0" rIns="0" bIns="0" rtlCol="0" anchor="ctr"/>
          <a:lstStyle/>
          <a:p>
            <a:pPr indent="0" marL="0">
              <a:buNone/>
            </a:pPr>
            <a:r>
              <a:rPr lang="en-US" sz="1800" b="1" dirty="0">
                <a:solidFill>
                  <a:schemeClr val="tx2"/>
                </a:solidFill>
              </a:rPr>
              <a:t>ED 4-hour</a:t>
            </a:r>
            <a:endParaRPr lang="en-US" sz="1800" dirty="0"/>
          </a:p>
        </p:txBody>
      </p:sp>
      <p:sp>
        <p:nvSpPr>
          <p:cNvPr id="13" name="txt-30"/>
          <p:cNvSpPr txBox="1"/>
          <p:nvPr/>
        </p:nvSpPr>
        <p:spPr>
          <a:xfrm>
            <a:off x="4572000" y="2194560"/>
            <a:ext cx="3017520" cy="1005840"/>
          </a:xfrm>
          <a:prstGeom prst="rect">
            <a:avLst/>
          </a:prstGeom>
          <a:noFill/>
          <a:ln/>
        </p:spPr>
        <p:txBody>
          <a:bodyPr wrap="square" lIns="0" tIns="0" rIns="0" bIns="0" rtlCol="0" anchor="t"/>
          <a:lstStyle/>
          <a:p>
            <a:pPr indent="0" marL="0">
              <a:buNone/>
            </a:pPr>
            <a:r>
              <a:rPr lang="en-US" sz="5400" b="1" dirty="0">
                <a:solidFill>
                  <a:schemeClr val="tx2"/>
                </a:solidFill>
              </a:rPr>
              <a:t>83.2%</a:t>
            </a:r>
            <a:endParaRPr lang="en-US" sz="5400" dirty="0"/>
          </a:p>
        </p:txBody>
      </p:sp>
      <p:sp>
        <p:nvSpPr>
          <p:cNvPr id="14" name="txt-31"/>
          <p:cNvSpPr txBox="1"/>
          <p:nvPr/>
        </p:nvSpPr>
        <p:spPr>
          <a:xfrm>
            <a:off x="4572000" y="3200400"/>
            <a:ext cx="3017520" cy="365760"/>
          </a:xfrm>
          <a:prstGeom prst="rect">
            <a:avLst/>
          </a:prstGeom>
          <a:noFill/>
          <a:ln/>
        </p:spPr>
        <p:txBody>
          <a:bodyPr wrap="square" lIns="0" tIns="0" rIns="0" bIns="0" rtlCol="0" anchor="t"/>
          <a:lstStyle/>
          <a:p>
            <a:pPr indent="0" marL="0">
              <a:buNone/>
            </a:pPr>
            <a:r>
              <a:rPr lang="en-US" sz="1400" b="1" dirty="0">
                <a:solidFill>
                  <a:schemeClr val="accent1"/>
                </a:solidFill>
              </a:rPr>
              <a:t>Standard 95%  ·  interim 78% met</a:t>
            </a:r>
            <a:endParaRPr lang="en-US" sz="1400" dirty="0"/>
          </a:p>
        </p:txBody>
      </p:sp>
      <p:sp>
        <p:nvSpPr>
          <p:cNvPr id="15" name="txt-32"/>
          <p:cNvSpPr txBox="1"/>
          <p:nvPr/>
        </p:nvSpPr>
        <p:spPr>
          <a:xfrm>
            <a:off x="4572000" y="3703320"/>
            <a:ext cx="3017520" cy="1188720"/>
          </a:xfrm>
          <a:prstGeom prst="rect">
            <a:avLst/>
          </a:prstGeom>
          <a:noFill/>
          <a:ln/>
        </p:spPr>
        <p:txBody>
          <a:bodyPr wrap="square" lIns="0" tIns="0" rIns="0" bIns="0" rtlCol="0" anchor="t"/>
          <a:lstStyle/>
          <a:p>
            <a:pPr indent="0" marL="0">
              <a:buNone/>
            </a:pPr>
            <a:r>
              <a:rPr lang="en-US" sz="1400" dirty="0">
                <a:solidFill>
                  <a:schemeClr val="tx1"/>
                </a:solidFill>
              </a:rPr>
              <a:t>Above the 78% interim target overall, but 4 of 25 weeks fell below it (lowest 68.0%).</a:t>
            </a:r>
            <a:endParaRPr lang="en-US" sz="1400" dirty="0"/>
          </a:p>
        </p:txBody>
      </p:sp>
      <p:sp>
        <p:nvSpPr>
          <p:cNvPr id="16" name="txt-33"/>
          <p:cNvSpPr txBox="1"/>
          <p:nvPr/>
        </p:nvSpPr>
        <p:spPr>
          <a:xfrm>
            <a:off x="4572000" y="5029200"/>
            <a:ext cx="3017520" cy="822960"/>
          </a:xfrm>
          <a:prstGeom prst="rect">
            <a:avLst/>
          </a:prstGeom>
          <a:noFill/>
          <a:ln/>
        </p:spPr>
        <p:txBody>
          <a:bodyPr wrap="square" lIns="0" tIns="0" rIns="0" bIns="0" rtlCol="0" anchor="t"/>
          <a:lstStyle/>
          <a:p>
            <a:pPr indent="0" marL="0">
              <a:buNone/>
            </a:pPr>
            <a:r>
              <a:rPr lang="en-US" sz="1200" i="1" dirty="0">
                <a:solidFill>
                  <a:schemeClr val="accent5"/>
                </a:solidFill>
              </a:rPr>
              <a:t>Caveat: 39 breach flags are blank, so the true figure is 79.9–83.2%.</a:t>
            </a:r>
            <a:endParaRPr lang="en-US" sz="1200" dirty="0"/>
          </a:p>
        </p:txBody>
      </p:sp>
      <p:sp>
        <p:nvSpPr>
          <p:cNvPr id="17" name="card-34"/>
          <p:cNvSpPr/>
          <p:nvPr/>
        </p:nvSpPr>
        <p:spPr>
          <a:xfrm>
            <a:off x="8046720" y="1371600"/>
            <a:ext cx="3474720" cy="4663440"/>
          </a:xfrm>
          <a:prstGeom prst="roundRect">
            <a:avLst>
              <a:gd name="adj" fmla="val 2105"/>
            </a:avLst>
          </a:prstGeom>
          <a:solidFill>
            <a:schemeClr val="bg2"/>
          </a:solidFill>
          <a:ln w="12700">
            <a:solidFill>
              <a:schemeClr val="bg2"/>
            </a:solidFill>
            <a:prstDash val="solid"/>
          </a:ln>
        </p:spPr>
      </p:sp>
      <p:sp>
        <p:nvSpPr>
          <p:cNvPr id="18" name="rag-35"/>
          <p:cNvSpPr/>
          <p:nvPr/>
        </p:nvSpPr>
        <p:spPr>
          <a:xfrm>
            <a:off x="8321040" y="1645920"/>
            <a:ext cx="365760" cy="365760"/>
          </a:xfrm>
          <a:prstGeom prst="ellipse">
            <a:avLst/>
          </a:prstGeom>
          <a:solidFill>
            <a:schemeClr val="accent2"/>
          </a:solidFill>
          <a:ln w="12700">
            <a:solidFill>
              <a:schemeClr val="accent2"/>
            </a:solidFill>
            <a:prstDash val="solid"/>
          </a:ln>
        </p:spPr>
      </p:sp>
      <p:sp>
        <p:nvSpPr>
          <p:cNvPr id="19" name="txt-36"/>
          <p:cNvSpPr txBox="1"/>
          <p:nvPr/>
        </p:nvSpPr>
        <p:spPr>
          <a:xfrm>
            <a:off x="8823960" y="1645920"/>
            <a:ext cx="2560320" cy="365760"/>
          </a:xfrm>
          <a:prstGeom prst="rect">
            <a:avLst/>
          </a:prstGeom>
          <a:noFill/>
          <a:ln/>
        </p:spPr>
        <p:txBody>
          <a:bodyPr wrap="square" lIns="0" tIns="0" rIns="0" bIns="0" rtlCol="0" anchor="ctr"/>
          <a:lstStyle/>
          <a:p>
            <a:pPr indent="0" marL="0">
              <a:buNone/>
            </a:pPr>
            <a:r>
              <a:rPr lang="en-US" sz="1800" b="1" dirty="0">
                <a:solidFill>
                  <a:schemeClr val="tx2"/>
                </a:solidFill>
              </a:rPr>
              <a:t>Theatre utilisation</a:t>
            </a:r>
            <a:endParaRPr lang="en-US" sz="1800" dirty="0"/>
          </a:p>
        </p:txBody>
      </p:sp>
      <p:sp>
        <p:nvSpPr>
          <p:cNvPr id="20" name="txt-37"/>
          <p:cNvSpPr txBox="1"/>
          <p:nvPr/>
        </p:nvSpPr>
        <p:spPr>
          <a:xfrm>
            <a:off x="8321040" y="2194560"/>
            <a:ext cx="3017520" cy="1005840"/>
          </a:xfrm>
          <a:prstGeom prst="rect">
            <a:avLst/>
          </a:prstGeom>
          <a:noFill/>
          <a:ln/>
        </p:spPr>
        <p:txBody>
          <a:bodyPr wrap="square" lIns="0" tIns="0" rIns="0" bIns="0" rtlCol="0" anchor="t"/>
          <a:lstStyle/>
          <a:p>
            <a:pPr indent="0" marL="0">
              <a:buNone/>
            </a:pPr>
            <a:r>
              <a:rPr lang="en-US" sz="5400" b="1" dirty="0">
                <a:solidFill>
                  <a:schemeClr val="tx2"/>
                </a:solidFill>
              </a:rPr>
              <a:t>64.2%</a:t>
            </a:r>
            <a:endParaRPr lang="en-US" sz="5400" dirty="0"/>
          </a:p>
        </p:txBody>
      </p:sp>
      <p:sp>
        <p:nvSpPr>
          <p:cNvPr id="21" name="txt-38"/>
          <p:cNvSpPr txBox="1"/>
          <p:nvPr/>
        </p:nvSpPr>
        <p:spPr>
          <a:xfrm>
            <a:off x="8321040" y="3200400"/>
            <a:ext cx="3017520" cy="365760"/>
          </a:xfrm>
          <a:prstGeom prst="rect">
            <a:avLst/>
          </a:prstGeom>
          <a:noFill/>
          <a:ln/>
        </p:spPr>
        <p:txBody>
          <a:bodyPr wrap="square" lIns="0" tIns="0" rIns="0" bIns="0" rtlCol="0" anchor="t"/>
          <a:lstStyle/>
          <a:p>
            <a:pPr indent="0" marL="0">
              <a:buNone/>
            </a:pPr>
            <a:r>
              <a:rPr lang="en-US" sz="1400" b="1" dirty="0">
                <a:solidFill>
                  <a:schemeClr val="accent1"/>
                </a:solidFill>
              </a:rPr>
              <a:t>GIRFT benchmark 85%</a:t>
            </a:r>
            <a:endParaRPr lang="en-US" sz="1400" dirty="0"/>
          </a:p>
        </p:txBody>
      </p:sp>
      <p:sp>
        <p:nvSpPr>
          <p:cNvPr id="22" name="txt-39"/>
          <p:cNvSpPr txBox="1"/>
          <p:nvPr/>
        </p:nvSpPr>
        <p:spPr>
          <a:xfrm>
            <a:off x="8321040" y="3703320"/>
            <a:ext cx="3017520" cy="1188720"/>
          </a:xfrm>
          <a:prstGeom prst="rect">
            <a:avLst/>
          </a:prstGeom>
          <a:noFill/>
          <a:ln/>
        </p:spPr>
        <p:txBody>
          <a:bodyPr wrap="square" lIns="0" tIns="0" rIns="0" bIns="0" rtlCol="0" anchor="t"/>
          <a:lstStyle/>
          <a:p>
            <a:pPr indent="0" marL="0">
              <a:buNone/>
            </a:pPr>
            <a:r>
              <a:rPr lang="en-US" sz="1400" dirty="0">
                <a:solidFill>
                  <a:schemeClr val="tx1"/>
                </a:solidFill>
              </a:rPr>
              <a:t>Elective theatres T1–T3, sessions-based. About £180,000 a month of capacity is unused.</a:t>
            </a:r>
            <a:endParaRPr lang="en-US" sz="1400" dirty="0"/>
          </a:p>
        </p:txBody>
      </p:sp>
      <p:sp>
        <p:nvSpPr>
          <p:cNvPr id="23" name="txt-40"/>
          <p:cNvSpPr txBox="1"/>
          <p:nvPr/>
        </p:nvSpPr>
        <p:spPr>
          <a:xfrm>
            <a:off x="8321040" y="5029200"/>
            <a:ext cx="3017520" cy="822960"/>
          </a:xfrm>
          <a:prstGeom prst="rect">
            <a:avLst/>
          </a:prstGeom>
          <a:noFill/>
          <a:ln/>
        </p:spPr>
        <p:txBody>
          <a:bodyPr wrap="square" lIns="0" tIns="0" rIns="0" bIns="0" rtlCol="0" anchor="t"/>
          <a:lstStyle/>
          <a:p>
            <a:pPr indent="0" marL="0">
              <a:buNone/>
            </a:pPr>
            <a:r>
              <a:rPr lang="en-US" sz="1200" i="1" dirty="0">
                <a:solidFill>
                  <a:schemeClr val="accent5"/>
                </a:solidFill>
              </a:rPr>
              <a:t>Caveat: Finance's 71.6% is hours incl. T4 and overruns; our rebuild gives 65.7%.</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Behind the headlines: what drives them and what is working</a:t>
            </a:r>
            <a:endParaRPr lang="en-US" sz="2800" dirty="0"/>
          </a:p>
        </p:txBody>
      </p:sp>
      <p:graphicFrame>
        <p:nvGraphicFramePr>
          <p:cNvPr id="5" name="tbl-41"/>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926080"/>
                <a:gridCol w="1463040"/>
                <a:gridCol w="1828800"/>
                <a:gridCol w="1005840"/>
                <a:gridCol w="3840480"/>
              </a:tblGrid>
              <a:tr h="566928">
                <a:tc>
                  <a:txBody>
                    <a:bodyPr/>
                    <a:lstStyle/>
                    <a:p>
                      <a:pPr indent="0" marL="0">
                        <a:buNone/>
                      </a:pPr>
                      <a:r>
                        <a:rPr lang="en-US" sz="1400" b="1" dirty="0">
                          <a:solidFill>
                            <a:schemeClr val="bg1"/>
                          </a:solidFill>
                          <a:latin typeface="Arial" pitchFamily="34" charset="0"/>
                          <a:ea typeface="Arial" pitchFamily="34" charset="-122"/>
                          <a:cs typeface="Arial" pitchFamily="34" charset="-120"/>
                        </a:rPr>
                        <a:t>KPI</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Arial" pitchFamily="34" charset="0"/>
                          <a:ea typeface="Arial" pitchFamily="34" charset="-122"/>
                          <a:cs typeface="Arial" pitchFamily="34" charset="-120"/>
                        </a:rPr>
                        <a:t>Bronings</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Arial" pitchFamily="34" charset="0"/>
                          <a:ea typeface="Arial" pitchFamily="34" charset="-122"/>
                          <a:cs typeface="Arial" pitchFamily="34" charset="-120"/>
                        </a:rPr>
                        <a:t>Target</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algn="ctr" indent="0" marL="0">
                        <a:buNone/>
                      </a:pPr>
                      <a:r>
                        <a:rPr lang="en-US" sz="1400" b="1" dirty="0">
                          <a:solidFill>
                            <a:schemeClr val="bg1"/>
                          </a:solidFill>
                          <a:latin typeface="Arial" pitchFamily="34" charset="0"/>
                          <a:ea typeface="Arial" pitchFamily="34" charset="-122"/>
                          <a:cs typeface="Arial" pitchFamily="34" charset="-120"/>
                        </a:rPr>
                        <a:t>RAG</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So what</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Outpatient DNA rate</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latin typeface="Arial" pitchFamily="34" charset="0"/>
                          <a:ea typeface="Arial" pitchFamily="34" charset="-122"/>
                          <a:cs typeface="Arial" pitchFamily="34" charset="-120"/>
                        </a:rPr>
                        <a:t>13.1%</a:t>
                      </a:r>
                      <a:endParaRPr lang="en-US" sz="16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5"/>
                          </a:solidFill>
                          <a:latin typeface="Arial" pitchFamily="34" charset="0"/>
                          <a:ea typeface="Arial" pitchFamily="34" charset="-122"/>
                          <a:cs typeface="Arial" pitchFamily="34" charset="-120"/>
                        </a:rPr>
                        <a:t>&lt; 10% (Trust 8%)</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Arial" pitchFamily="34" charset="0"/>
                          <a:ea typeface="Arial" pitchFamily="34" charset="-122"/>
                          <a:cs typeface="Arial" pitchFamily="34" charset="-120"/>
                        </a:rPr>
                        <a:t>Red</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76 lost slots in Q1; Orthopaedics 36.2%</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Agency share of shifts</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latin typeface="Arial" pitchFamily="34" charset="0"/>
                          <a:ea typeface="Arial" pitchFamily="34" charset="-122"/>
                          <a:cs typeface="Arial" pitchFamily="34" charset="-120"/>
                        </a:rPr>
                        <a:t>16.6%</a:t>
                      </a:r>
                      <a:endParaRPr lang="en-US" sz="16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5"/>
                          </a:solidFill>
                          <a:latin typeface="Arial" pitchFamily="34" charset="0"/>
                          <a:ea typeface="Arial" pitchFamily="34" charset="-122"/>
                          <a:cs typeface="Arial" pitchFamily="34" charset="-120"/>
                        </a:rPr>
                        <a:t>&lt; 8%</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Arial" pitchFamily="34" charset="0"/>
                          <a:ea typeface="Arial" pitchFamily="34" charset="-122"/>
                          <a:cs typeface="Arial" pitchFamily="34" charset="-120"/>
                        </a:rPr>
                        <a:t>Red</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£97,020 in 8 weeks; every ward 15–19%</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Data quality score (5 datasets)</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latin typeface="Arial" pitchFamily="34" charset="0"/>
                          <a:ea typeface="Arial" pitchFamily="34" charset="-122"/>
                          <a:cs typeface="Arial" pitchFamily="34" charset="-120"/>
                        </a:rPr>
                        <a:t>81.3%</a:t>
                      </a:r>
                      <a:endParaRPr lang="en-US" sz="16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5"/>
                          </a:solidFill>
                          <a:latin typeface="Arial" pitchFamily="34" charset="0"/>
                          <a:ea typeface="Arial" pitchFamily="34" charset="-122"/>
                          <a:cs typeface="Arial" pitchFamily="34" charset="-120"/>
                        </a:rPr>
                        <a:t>≥ 95%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Arial" pitchFamily="34" charset="0"/>
                          <a:ea typeface="Arial" pitchFamily="34" charset="-122"/>
                          <a:cs typeface="Arial" pitchFamily="34" charset="-120"/>
                        </a:rPr>
                        <a:t>Red</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DQMI 52 against the 75 threshold</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30-day readmissions</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latin typeface="Arial" pitchFamily="34" charset="0"/>
                          <a:ea typeface="Arial" pitchFamily="34" charset="-122"/>
                          <a:cs typeface="Arial" pitchFamily="34" charset="-120"/>
                        </a:rPr>
                        <a:t>10.25%</a:t>
                      </a:r>
                      <a:endParaRPr lang="en-US" sz="16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5"/>
                          </a:solidFill>
                          <a:latin typeface="Arial" pitchFamily="34" charset="0"/>
                          <a:ea typeface="Arial" pitchFamily="34" charset="-122"/>
                          <a:cs typeface="Arial" pitchFamily="34" charset="-120"/>
                        </a:rPr>
                        <a:t>&lt; 10%</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Arial" pitchFamily="34" charset="0"/>
                          <a:ea typeface="Arial" pitchFamily="34" charset="-122"/>
                          <a:cs typeface="Arial" pitchFamily="34" charset="-120"/>
                        </a:rPr>
                        <a:t>Amber</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9.0% on recorded flags; 44 blanks back-filled</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HRG coding completeness</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latin typeface="Arial" pitchFamily="34" charset="0"/>
                          <a:ea typeface="Arial" pitchFamily="34" charset="-122"/>
                          <a:cs typeface="Arial" pitchFamily="34" charset="-120"/>
                        </a:rPr>
                        <a:t>97.7%</a:t>
                      </a:r>
                      <a:endParaRPr lang="en-US" sz="16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5"/>
                          </a:solidFill>
                          <a:latin typeface="Arial" pitchFamily="34" charset="0"/>
                          <a:ea typeface="Arial" pitchFamily="34" charset="-122"/>
                          <a:cs typeface="Arial" pitchFamily="34" charset="-120"/>
                        </a:rPr>
                        <a:t>98%</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tx1"/>
                          </a:solidFill>
                          <a:latin typeface="Arial" pitchFamily="34" charset="0"/>
                          <a:ea typeface="Arial" pitchFamily="34" charset="-122"/>
                          <a:cs typeface="Arial" pitchFamily="34" charset="-120"/>
                        </a:rPr>
                        <a:t>Amber</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3"/>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28 uncoded episodes = £51,800 at risk</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Average length of stay</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latin typeface="Arial" pitchFamily="34" charset="0"/>
                          <a:ea typeface="Arial" pitchFamily="34" charset="-122"/>
                          <a:cs typeface="Arial" pitchFamily="34" charset="-120"/>
                        </a:rPr>
                        <a:t>3.88 days</a:t>
                      </a:r>
                      <a:endParaRPr lang="en-US" sz="16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5"/>
                          </a:solidFill>
                          <a:latin typeface="Arial" pitchFamily="34" charset="0"/>
                          <a:ea typeface="Arial" pitchFamily="34" charset="-122"/>
                          <a:cs typeface="Arial" pitchFamily="34" charset="-120"/>
                        </a:rPr>
                        <a:t>&lt; 4.5 days</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Arial" pitchFamily="34" charset="0"/>
                          <a:ea typeface="Arial" pitchFamily="34" charset="-122"/>
                          <a:cs typeface="Arial" pitchFamily="34" charset="-120"/>
                        </a:rPr>
                        <a:t>Green</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Within target</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r h="566928">
                <a:tc>
                  <a:txBody>
                    <a:bodyPr/>
                    <a:lstStyle/>
                    <a:p>
                      <a:pPr indent="0" marL="0">
                        <a:buNone/>
                      </a:pPr>
                      <a:r>
                        <a:rPr lang="en-US" sz="1400" b="1" dirty="0">
                          <a:solidFill>
                            <a:schemeClr val="tx2"/>
                          </a:solidFill>
                          <a:latin typeface="Arial" pitchFamily="34" charset="0"/>
                          <a:ea typeface="Arial" pitchFamily="34" charset="-122"/>
                          <a:cs typeface="Arial" pitchFamily="34" charset="-120"/>
                        </a:rPr>
                        <a:t>ED left without being seen</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600" b="1" dirty="0">
                          <a:solidFill>
                            <a:schemeClr val="tx1"/>
                          </a:solidFill>
                          <a:latin typeface="Arial" pitchFamily="34" charset="0"/>
                          <a:ea typeface="Arial" pitchFamily="34" charset="-122"/>
                          <a:cs typeface="Arial" pitchFamily="34" charset="-120"/>
                        </a:rPr>
                        <a:t>2.4%</a:t>
                      </a:r>
                      <a:endParaRPr lang="en-US" sz="16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300" dirty="0">
                          <a:solidFill>
                            <a:schemeClr val="accent5"/>
                          </a:solidFill>
                          <a:latin typeface="Arial" pitchFamily="34" charset="0"/>
                          <a:ea typeface="Arial" pitchFamily="34" charset="-122"/>
                          <a:cs typeface="Arial" pitchFamily="34" charset="-120"/>
                        </a:rPr>
                        <a:t>&lt; 5%</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algn="ctr" indent="0" marL="0">
                        <a:buNone/>
                      </a:pPr>
                      <a:r>
                        <a:rPr lang="en-US" sz="1400" b="1" dirty="0">
                          <a:solidFill>
                            <a:schemeClr val="bg1"/>
                          </a:solidFill>
                          <a:latin typeface="Arial" pitchFamily="34" charset="0"/>
                          <a:ea typeface="Arial" pitchFamily="34" charset="-122"/>
                          <a:cs typeface="Arial" pitchFamily="34" charset="-120"/>
                        </a:rPr>
                        <a:t>Green</a:t>
                      </a:r>
                      <a:endParaRPr lang="en-US" sz="14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accent4"/>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Within target</a:t>
                      </a:r>
                      <a:endParaRPr lang="en-US" sz="1300" dirty="0">
                        <a:latin typeface="Arial" charset="0"/>
                        <a:ea typeface="Arial" charset="0"/>
                        <a:cs typeface="Arial" charset="0"/>
                      </a:endParaRPr>
                    </a:p>
                  </a:txBody>
                  <a:tcPr marL="91440" marR="91440" marT="45720" marB="4572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Only 81% of records pass every data quality check</a:t>
            </a:r>
            <a:endParaRPr lang="en-US" sz="2800" dirty="0"/>
          </a:p>
        </p:txBody>
      </p:sp>
      <p:graphicFrame>
        <p:nvGraphicFramePr>
          <p:cNvPr id="3" name="chart-42" descr=""/>
          <p:cNvGraphicFramePr/>
          <p:nvPr/>
        </p:nvGraphicFramePr>
        <p:xfrm>
          <a:off x="548640" y="1325880"/>
          <a:ext cx="5760720" cy="4480560"/>
        </p:xfrm>
        <a:graphic xmlns:a="http://schemas.openxmlformats.org/drawingml/2006/main">
          <a:graphicData uri="http://schemas.openxmlformats.org/drawingml/2006/chart">
            <c:chart xmlns:c="http://schemas.openxmlformats.org/drawingml/2006/chart" r:id="rId1"/>
          </a:graphicData>
        </a:graphic>
      </p:graphicFrame>
      <p:sp>
        <p:nvSpPr>
          <p:cNvPr id="4" name="rag-43"/>
          <p:cNvSpPr/>
          <p:nvPr/>
        </p:nvSpPr>
        <p:spPr>
          <a:xfrm>
            <a:off x="6675120" y="1444752"/>
            <a:ext cx="274320" cy="274320"/>
          </a:xfrm>
          <a:prstGeom prst="ellipse">
            <a:avLst/>
          </a:prstGeom>
          <a:solidFill>
            <a:schemeClr val="accent2"/>
          </a:solidFill>
          <a:ln w="12700">
            <a:solidFill>
              <a:schemeClr val="accent2"/>
            </a:solidFill>
            <a:prstDash val="solid"/>
          </a:ln>
        </p:spPr>
      </p:sp>
      <p:sp>
        <p:nvSpPr>
          <p:cNvPr id="5" name="txt-44"/>
          <p:cNvSpPr txBox="1"/>
          <p:nvPr/>
        </p:nvSpPr>
        <p:spPr>
          <a:xfrm>
            <a:off x="7132320" y="1371600"/>
            <a:ext cx="4480560" cy="347472"/>
          </a:xfrm>
          <a:prstGeom prst="rect">
            <a:avLst/>
          </a:prstGeom>
          <a:noFill/>
          <a:ln/>
        </p:spPr>
        <p:txBody>
          <a:bodyPr wrap="square" lIns="0" tIns="0" rIns="0" bIns="0" rtlCol="0" anchor="t"/>
          <a:lstStyle/>
          <a:p>
            <a:pPr indent="0" marL="0">
              <a:buNone/>
            </a:pPr>
            <a:r>
              <a:rPr lang="en-US" sz="1600" b="1" dirty="0">
                <a:solidFill>
                  <a:schemeClr val="tx2"/>
                </a:solidFill>
              </a:rPr>
              <a:t>Blank critical fields</a:t>
            </a:r>
            <a:endParaRPr lang="en-US" sz="1600" dirty="0"/>
          </a:p>
        </p:txBody>
      </p:sp>
      <p:sp>
        <p:nvSpPr>
          <p:cNvPr id="6" name="txt-45"/>
          <p:cNvSpPr txBox="1"/>
          <p:nvPr/>
        </p:nvSpPr>
        <p:spPr>
          <a:xfrm>
            <a:off x="7132320" y="1719072"/>
            <a:ext cx="4480560" cy="502920"/>
          </a:xfrm>
          <a:prstGeom prst="rect">
            <a:avLst/>
          </a:prstGeom>
          <a:noFill/>
          <a:ln/>
        </p:spPr>
        <p:txBody>
          <a:bodyPr wrap="square" lIns="0" tIns="0" rIns="0" bIns="0" rtlCol="0" anchor="t"/>
          <a:lstStyle/>
          <a:p>
            <a:pPr indent="0" marL="0">
              <a:buNone/>
            </a:pPr>
            <a:r>
              <a:rPr lang="en-US" sz="1300" dirty="0">
                <a:solidFill>
                  <a:schemeClr val="tx1"/>
                </a:solidFill>
              </a:rPr>
              <a:t>44 readmission flags, 39 ED breach flags, 31 discharge dates, 28 HRG codes</a:t>
            </a:r>
            <a:endParaRPr lang="en-US" sz="1300" dirty="0"/>
          </a:p>
        </p:txBody>
      </p:sp>
      <p:sp>
        <p:nvSpPr>
          <p:cNvPr id="7" name="rag-46"/>
          <p:cNvSpPr/>
          <p:nvPr/>
        </p:nvSpPr>
        <p:spPr>
          <a:xfrm>
            <a:off x="6675120" y="2340864"/>
            <a:ext cx="274320" cy="274320"/>
          </a:xfrm>
          <a:prstGeom prst="ellipse">
            <a:avLst/>
          </a:prstGeom>
          <a:solidFill>
            <a:schemeClr val="accent2"/>
          </a:solidFill>
          <a:ln w="12700">
            <a:solidFill>
              <a:schemeClr val="accent2"/>
            </a:solidFill>
            <a:prstDash val="solid"/>
          </a:ln>
        </p:spPr>
      </p:sp>
      <p:sp>
        <p:nvSpPr>
          <p:cNvPr id="8" name="txt-47"/>
          <p:cNvSpPr txBox="1"/>
          <p:nvPr/>
        </p:nvSpPr>
        <p:spPr>
          <a:xfrm>
            <a:off x="7132320" y="2267712"/>
            <a:ext cx="4480560" cy="347472"/>
          </a:xfrm>
          <a:prstGeom prst="rect">
            <a:avLst/>
          </a:prstGeom>
          <a:noFill/>
          <a:ln/>
        </p:spPr>
        <p:txBody>
          <a:bodyPr wrap="square" lIns="0" tIns="0" rIns="0" bIns="0" rtlCol="0" anchor="t"/>
          <a:lstStyle/>
          <a:p>
            <a:pPr indent="0" marL="0">
              <a:buNone/>
            </a:pPr>
            <a:r>
              <a:rPr lang="en-US" sz="1600" b="1" dirty="0">
                <a:solidFill>
                  <a:schemeClr val="tx2"/>
                </a:solidFill>
              </a:rPr>
              <a:t>Wrong values</a:t>
            </a:r>
            <a:endParaRPr lang="en-US" sz="1600" dirty="0"/>
          </a:p>
        </p:txBody>
      </p:sp>
      <p:sp>
        <p:nvSpPr>
          <p:cNvPr id="9" name="txt-48"/>
          <p:cNvSpPr txBox="1"/>
          <p:nvPr/>
        </p:nvSpPr>
        <p:spPr>
          <a:xfrm>
            <a:off x="7132320" y="2615184"/>
            <a:ext cx="4480560" cy="502920"/>
          </a:xfrm>
          <a:prstGeom prst="rect">
            <a:avLst/>
          </a:prstGeom>
          <a:noFill/>
          <a:ln/>
        </p:spPr>
        <p:txBody>
          <a:bodyPr wrap="square" lIns="0" tIns="0" rIns="0" bIns="0" rtlCol="0" anchor="t"/>
          <a:lstStyle/>
          <a:p>
            <a:pPr indent="0" marL="0">
              <a:buNone/>
            </a:pPr>
            <a:r>
              <a:rPr lang="en-US" sz="1300" dirty="0">
                <a:solidFill>
                  <a:schemeClr val="tx1"/>
                </a:solidFill>
              </a:rPr>
              <a:t>Text in number fields, 'attended' for ATT, retired codes (GEN, closed ward W-08)</a:t>
            </a:r>
            <a:endParaRPr lang="en-US" sz="1300" dirty="0"/>
          </a:p>
        </p:txBody>
      </p:sp>
      <p:sp>
        <p:nvSpPr>
          <p:cNvPr id="10" name="rag-49"/>
          <p:cNvSpPr/>
          <p:nvPr/>
        </p:nvSpPr>
        <p:spPr>
          <a:xfrm>
            <a:off x="6675120" y="3236976"/>
            <a:ext cx="274320" cy="274320"/>
          </a:xfrm>
          <a:prstGeom prst="ellipse">
            <a:avLst/>
          </a:prstGeom>
          <a:solidFill>
            <a:schemeClr val="accent2"/>
          </a:solidFill>
          <a:ln w="12700">
            <a:solidFill>
              <a:schemeClr val="accent2"/>
            </a:solidFill>
            <a:prstDash val="solid"/>
          </a:ln>
        </p:spPr>
      </p:sp>
      <p:sp>
        <p:nvSpPr>
          <p:cNvPr id="11" name="txt-50"/>
          <p:cNvSpPr txBox="1"/>
          <p:nvPr/>
        </p:nvSpPr>
        <p:spPr>
          <a:xfrm>
            <a:off x="7132320" y="3163824"/>
            <a:ext cx="4480560" cy="347472"/>
          </a:xfrm>
          <a:prstGeom prst="rect">
            <a:avLst/>
          </a:prstGeom>
          <a:noFill/>
          <a:ln/>
        </p:spPr>
        <p:txBody>
          <a:bodyPr wrap="square" lIns="0" tIns="0" rIns="0" bIns="0" rtlCol="0" anchor="t"/>
          <a:lstStyle/>
          <a:p>
            <a:pPr indent="0" marL="0">
              <a:buNone/>
            </a:pPr>
            <a:r>
              <a:rPr lang="en-US" sz="1600" b="1" dirty="0">
                <a:solidFill>
                  <a:schemeClr val="tx2"/>
                </a:solidFill>
              </a:rPr>
              <a:t>Duplicates and test data</a:t>
            </a:r>
            <a:endParaRPr lang="en-US" sz="1600" dirty="0"/>
          </a:p>
        </p:txBody>
      </p:sp>
      <p:sp>
        <p:nvSpPr>
          <p:cNvPr id="12" name="txt-51"/>
          <p:cNvSpPr txBox="1"/>
          <p:nvPr/>
        </p:nvSpPr>
        <p:spPr>
          <a:xfrm>
            <a:off x="7132320" y="3511296"/>
            <a:ext cx="4480560" cy="502920"/>
          </a:xfrm>
          <a:prstGeom prst="rect">
            <a:avLst/>
          </a:prstGeom>
          <a:noFill/>
          <a:ln/>
        </p:spPr>
        <p:txBody>
          <a:bodyPr wrap="square" lIns="0" tIns="0" rIns="0" bIns="0" rtlCol="0" anchor="t"/>
          <a:lstStyle/>
          <a:p>
            <a:pPr indent="0" marL="0">
              <a:buNone/>
            </a:pPr>
            <a:r>
              <a:rPr lang="en-US" sz="1300" dirty="0">
                <a:solidFill>
                  <a:schemeClr val="tx1"/>
                </a:solidFill>
              </a:rPr>
              <a:t>6 inpatient episodes, 9 ED attendances, 24 ST-99 test staff records</a:t>
            </a:r>
            <a:endParaRPr lang="en-US" sz="1300" dirty="0"/>
          </a:p>
        </p:txBody>
      </p:sp>
      <p:sp>
        <p:nvSpPr>
          <p:cNvPr id="13" name="rag-52"/>
          <p:cNvSpPr/>
          <p:nvPr/>
        </p:nvSpPr>
        <p:spPr>
          <a:xfrm>
            <a:off x="6675120" y="4133088"/>
            <a:ext cx="274320" cy="274320"/>
          </a:xfrm>
          <a:prstGeom prst="ellipse">
            <a:avLst/>
          </a:prstGeom>
          <a:solidFill>
            <a:schemeClr val="accent2"/>
          </a:solidFill>
          <a:ln w="12700">
            <a:solidFill>
              <a:schemeClr val="accent2"/>
            </a:solidFill>
            <a:prstDash val="solid"/>
          </a:ln>
        </p:spPr>
      </p:sp>
      <p:sp>
        <p:nvSpPr>
          <p:cNvPr id="14" name="txt-53"/>
          <p:cNvSpPr txBox="1"/>
          <p:nvPr/>
        </p:nvSpPr>
        <p:spPr>
          <a:xfrm>
            <a:off x="7132320" y="4059936"/>
            <a:ext cx="4480560" cy="347472"/>
          </a:xfrm>
          <a:prstGeom prst="rect">
            <a:avLst/>
          </a:prstGeom>
          <a:noFill/>
          <a:ln/>
        </p:spPr>
        <p:txBody>
          <a:bodyPr wrap="square" lIns="0" tIns="0" rIns="0" bIns="0" rtlCol="0" anchor="t"/>
          <a:lstStyle/>
          <a:p>
            <a:pPr indent="0" marL="0">
              <a:buNone/>
            </a:pPr>
            <a:r>
              <a:rPr lang="en-US" sz="1600" b="1" dirty="0">
                <a:solidFill>
                  <a:schemeClr val="tx2"/>
                </a:solidFill>
              </a:rPr>
              <a:t>Identity</a:t>
            </a:r>
            <a:endParaRPr lang="en-US" sz="1600" dirty="0"/>
          </a:p>
        </p:txBody>
      </p:sp>
      <p:sp>
        <p:nvSpPr>
          <p:cNvPr id="15" name="txt-54"/>
          <p:cNvSpPr txBox="1"/>
          <p:nvPr/>
        </p:nvSpPr>
        <p:spPr>
          <a:xfrm>
            <a:off x="7132320" y="4407408"/>
            <a:ext cx="4480560" cy="502920"/>
          </a:xfrm>
          <a:prstGeom prst="rect">
            <a:avLst/>
          </a:prstGeom>
          <a:noFill/>
          <a:ln/>
        </p:spPr>
        <p:txBody>
          <a:bodyPr wrap="square" lIns="0" tIns="0" rIns="0" bIns="0" rtlCol="0" anchor="t"/>
          <a:lstStyle/>
          <a:p>
            <a:pPr indent="0" marL="0">
              <a:buNone/>
            </a:pPr>
            <a:r>
              <a:rPr lang="en-US" sz="1300" dirty="0">
                <a:solidFill>
                  <a:schemeClr val="tx1"/>
                </a:solidFill>
              </a:rPr>
              <a:t>16 NHS Numbers belong to more than one person; no patient key links PAS, EHR and EDIS</a:t>
            </a:r>
            <a:endParaRPr lang="en-US" sz="1300" dirty="0"/>
          </a:p>
        </p:txBody>
      </p:sp>
      <p:sp>
        <p:nvSpPr>
          <p:cNvPr id="16" name="rag-55"/>
          <p:cNvSpPr/>
          <p:nvPr/>
        </p:nvSpPr>
        <p:spPr>
          <a:xfrm>
            <a:off x="6675120" y="5029200"/>
            <a:ext cx="274320" cy="274320"/>
          </a:xfrm>
          <a:prstGeom prst="ellipse">
            <a:avLst/>
          </a:prstGeom>
          <a:solidFill>
            <a:schemeClr val="accent3"/>
          </a:solidFill>
          <a:ln w="12700">
            <a:solidFill>
              <a:schemeClr val="accent3"/>
            </a:solidFill>
            <a:prstDash val="solid"/>
          </a:ln>
        </p:spPr>
      </p:sp>
      <p:sp>
        <p:nvSpPr>
          <p:cNvPr id="17" name="txt-56"/>
          <p:cNvSpPr txBox="1"/>
          <p:nvPr/>
        </p:nvSpPr>
        <p:spPr>
          <a:xfrm>
            <a:off x="7132320" y="4956048"/>
            <a:ext cx="4480560" cy="347472"/>
          </a:xfrm>
          <a:prstGeom prst="rect">
            <a:avLst/>
          </a:prstGeom>
          <a:noFill/>
          <a:ln/>
        </p:spPr>
        <p:txBody>
          <a:bodyPr wrap="square" lIns="0" tIns="0" rIns="0" bIns="0" rtlCol="0" anchor="t"/>
          <a:lstStyle/>
          <a:p>
            <a:pPr indent="0" marL="0">
              <a:buNone/>
            </a:pPr>
            <a:r>
              <a:rPr lang="en-US" sz="1600" b="1" dirty="0">
                <a:solidFill>
                  <a:schemeClr val="tx2"/>
                </a:solidFill>
              </a:rPr>
              <a:t>Competing definitions</a:t>
            </a:r>
            <a:endParaRPr lang="en-US" sz="1600" dirty="0"/>
          </a:p>
        </p:txBody>
      </p:sp>
      <p:sp>
        <p:nvSpPr>
          <p:cNvPr id="18" name="txt-57"/>
          <p:cNvSpPr txBox="1"/>
          <p:nvPr/>
        </p:nvSpPr>
        <p:spPr>
          <a:xfrm>
            <a:off x="7132320" y="5303520"/>
            <a:ext cx="4480560" cy="502920"/>
          </a:xfrm>
          <a:prstGeom prst="rect">
            <a:avLst/>
          </a:prstGeom>
          <a:noFill/>
          <a:ln/>
        </p:spPr>
        <p:txBody>
          <a:bodyPr wrap="square" lIns="0" tIns="0" rIns="0" bIns="0" rtlCol="0" anchor="t"/>
          <a:lstStyle/>
          <a:p>
            <a:pPr indent="0" marL="0">
              <a:buNone/>
            </a:pPr>
            <a:r>
              <a:rPr lang="en-US" sz="1300" dirty="0">
                <a:solidFill>
                  <a:schemeClr val="tx1"/>
                </a:solidFill>
              </a:rPr>
              <a:t>3 versions of the DNA rate; 2 theatre utilisation figures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What I fixed: one source, one definition, one figure</a:t>
            </a:r>
            <a:endParaRPr lang="en-US" sz="2800" dirty="0"/>
          </a:p>
        </p:txBody>
      </p:sp>
      <p:sp>
        <p:nvSpPr>
          <p:cNvPr id="3" name="txt-58"/>
          <p:cNvSpPr txBox="1"/>
          <p:nvPr/>
        </p:nvSpPr>
        <p:spPr>
          <a:xfrm>
            <a:off x="548640" y="1280160"/>
            <a:ext cx="4937760" cy="411480"/>
          </a:xfrm>
          <a:prstGeom prst="rect">
            <a:avLst/>
          </a:prstGeom>
          <a:noFill/>
          <a:ln/>
        </p:spPr>
        <p:txBody>
          <a:bodyPr wrap="square" lIns="0" tIns="0" rIns="0" bIns="0" rtlCol="0" anchor="t"/>
          <a:lstStyle/>
          <a:p>
            <a:pPr indent="0" marL="0">
              <a:buNone/>
            </a:pPr>
            <a:r>
              <a:rPr lang="en-US" sz="1800" b="1" dirty="0">
                <a:solidFill>
                  <a:schemeClr val="accent2"/>
                </a:solidFill>
              </a:rPr>
              <a:t>Before</a:t>
            </a:r>
            <a:endParaRPr lang="en-US" sz="1800" dirty="0"/>
          </a:p>
        </p:txBody>
      </p:sp>
      <p:sp>
        <p:nvSpPr>
          <p:cNvPr id="4" name="txt-59"/>
          <p:cNvSpPr txBox="1"/>
          <p:nvPr/>
        </p:nvSpPr>
        <p:spPr>
          <a:xfrm>
            <a:off x="6675120" y="1280160"/>
            <a:ext cx="4937760" cy="411480"/>
          </a:xfrm>
          <a:prstGeom prst="rect">
            <a:avLst/>
          </a:prstGeom>
          <a:noFill/>
          <a:ln/>
        </p:spPr>
        <p:txBody>
          <a:bodyPr wrap="square" lIns="0" tIns="0" rIns="0" bIns="0" rtlCol="0" anchor="t"/>
          <a:lstStyle/>
          <a:p>
            <a:pPr indent="0" marL="0">
              <a:buNone/>
            </a:pPr>
            <a:r>
              <a:rPr lang="en-US" sz="1800" b="1" dirty="0">
                <a:solidFill>
                  <a:schemeClr val="accent4"/>
                </a:solidFill>
              </a:rPr>
              <a:t>Now</a:t>
            </a:r>
            <a:endParaRPr lang="en-US" sz="1800" dirty="0"/>
          </a:p>
        </p:txBody>
      </p:sp>
      <p:sp>
        <p:nvSpPr>
          <p:cNvPr id="5" name="card-60"/>
          <p:cNvSpPr/>
          <p:nvPr/>
        </p:nvSpPr>
        <p:spPr>
          <a:xfrm>
            <a:off x="548640" y="1783080"/>
            <a:ext cx="5029200" cy="566928"/>
          </a:xfrm>
          <a:prstGeom prst="roundRect">
            <a:avLst>
              <a:gd name="adj" fmla="val 12903"/>
            </a:avLst>
          </a:prstGeom>
          <a:solidFill>
            <a:schemeClr val="bg2"/>
          </a:solidFill>
          <a:ln w="12700">
            <a:solidFill>
              <a:schemeClr val="bg2"/>
            </a:solidFill>
            <a:prstDash val="solid"/>
          </a:ln>
        </p:spPr>
      </p:sp>
      <p:sp>
        <p:nvSpPr>
          <p:cNvPr id="6" name="txt-61"/>
          <p:cNvSpPr txBox="1"/>
          <p:nvPr/>
        </p:nvSpPr>
        <p:spPr>
          <a:xfrm>
            <a:off x="731520" y="1783080"/>
            <a:ext cx="4754880" cy="566928"/>
          </a:xfrm>
          <a:prstGeom prst="rect">
            <a:avLst/>
          </a:prstGeom>
          <a:noFill/>
          <a:ln/>
        </p:spPr>
        <p:txBody>
          <a:bodyPr wrap="square" lIns="0" tIns="0" rIns="0" bIns="0" rtlCol="0" anchor="ctr"/>
          <a:lstStyle/>
          <a:p>
            <a:pPr indent="0" marL="0">
              <a:buNone/>
            </a:pPr>
            <a:r>
              <a:rPr lang="en-US" sz="1400" dirty="0">
                <a:solidFill>
                  <a:schemeClr val="tx1"/>
                </a:solidFill>
              </a:rPr>
              <a:t>Board RTT 74.8% from a stale pivot</a:t>
            </a:r>
            <a:endParaRPr lang="en-US" sz="1400" dirty="0"/>
          </a:p>
        </p:txBody>
      </p:sp>
      <p:sp>
        <p:nvSpPr>
          <p:cNvPr id="7" name="arrow-62"/>
          <p:cNvSpPr/>
          <p:nvPr/>
        </p:nvSpPr>
        <p:spPr>
          <a:xfrm>
            <a:off x="5806440" y="1911096"/>
            <a:ext cx="640080" cy="310896"/>
          </a:xfrm>
          <a:prstGeom prst="rightArrow">
            <a:avLst/>
          </a:prstGeom>
          <a:solidFill>
            <a:schemeClr val="accent1"/>
          </a:solidFill>
          <a:ln w="12700">
            <a:solidFill>
              <a:schemeClr val="accent1"/>
            </a:solidFill>
            <a:prstDash val="solid"/>
          </a:ln>
        </p:spPr>
      </p:sp>
      <p:sp>
        <p:nvSpPr>
          <p:cNvPr id="8" name="card-63"/>
          <p:cNvSpPr/>
          <p:nvPr/>
        </p:nvSpPr>
        <p:spPr>
          <a:xfrm>
            <a:off x="6675120" y="1783080"/>
            <a:ext cx="4937760" cy="566928"/>
          </a:xfrm>
          <a:prstGeom prst="roundRect">
            <a:avLst>
              <a:gd name="adj" fmla="val 12903"/>
            </a:avLst>
          </a:prstGeom>
          <a:solidFill>
            <a:schemeClr val="tx2"/>
          </a:solidFill>
          <a:ln w="12700">
            <a:solidFill>
              <a:schemeClr val="tx2"/>
            </a:solidFill>
            <a:prstDash val="solid"/>
          </a:ln>
        </p:spPr>
      </p:sp>
      <p:sp>
        <p:nvSpPr>
          <p:cNvPr id="9" name="txt-64"/>
          <p:cNvSpPr txBox="1"/>
          <p:nvPr/>
        </p:nvSpPr>
        <p:spPr>
          <a:xfrm>
            <a:off x="6858000" y="1783080"/>
            <a:ext cx="4663440" cy="566928"/>
          </a:xfrm>
          <a:prstGeom prst="rect">
            <a:avLst/>
          </a:prstGeom>
          <a:noFill/>
          <a:ln/>
        </p:spPr>
        <p:txBody>
          <a:bodyPr wrap="square" lIns="0" tIns="0" rIns="0" bIns="0" rtlCol="0" anchor="ctr"/>
          <a:lstStyle/>
          <a:p>
            <a:pPr indent="0" marL="0">
              <a:buNone/>
            </a:pPr>
            <a:r>
              <a:rPr lang="en-US" sz="1400" b="1" dirty="0">
                <a:solidFill>
                  <a:schemeClr val="bg1"/>
                </a:solidFill>
              </a:rPr>
              <a:t>41.98% from live, cleaned data</a:t>
            </a:r>
            <a:endParaRPr lang="en-US" sz="1400" dirty="0"/>
          </a:p>
        </p:txBody>
      </p:sp>
      <p:sp>
        <p:nvSpPr>
          <p:cNvPr id="10" name="card-65"/>
          <p:cNvSpPr/>
          <p:nvPr/>
        </p:nvSpPr>
        <p:spPr>
          <a:xfrm>
            <a:off x="548640" y="2496312"/>
            <a:ext cx="5029200" cy="566928"/>
          </a:xfrm>
          <a:prstGeom prst="roundRect">
            <a:avLst>
              <a:gd name="adj" fmla="val 12903"/>
            </a:avLst>
          </a:prstGeom>
          <a:solidFill>
            <a:schemeClr val="bg2"/>
          </a:solidFill>
          <a:ln w="12700">
            <a:solidFill>
              <a:schemeClr val="bg2"/>
            </a:solidFill>
            <a:prstDash val="solid"/>
          </a:ln>
        </p:spPr>
      </p:sp>
      <p:sp>
        <p:nvSpPr>
          <p:cNvPr id="11" name="txt-66"/>
          <p:cNvSpPr txBox="1"/>
          <p:nvPr/>
        </p:nvSpPr>
        <p:spPr>
          <a:xfrm>
            <a:off x="731520" y="2496312"/>
            <a:ext cx="4754880" cy="566928"/>
          </a:xfrm>
          <a:prstGeom prst="rect">
            <a:avLst/>
          </a:prstGeom>
          <a:noFill/>
          <a:ln/>
        </p:spPr>
        <p:txBody>
          <a:bodyPr wrap="square" lIns="0" tIns="0" rIns="0" bIns="0" rtlCol="0" anchor="ctr"/>
          <a:lstStyle/>
          <a:p>
            <a:pPr indent="0" marL="0">
              <a:buNone/>
            </a:pPr>
            <a:r>
              <a:rPr lang="en-US" sz="1400" dirty="0">
                <a:solidFill>
                  <a:schemeClr val="tx1"/>
                </a:solidFill>
              </a:rPr>
              <a:t>Three versions of the DNA rate</a:t>
            </a:r>
            <a:endParaRPr lang="en-US" sz="1400" dirty="0"/>
          </a:p>
        </p:txBody>
      </p:sp>
      <p:sp>
        <p:nvSpPr>
          <p:cNvPr id="12" name="arrow-67"/>
          <p:cNvSpPr/>
          <p:nvPr/>
        </p:nvSpPr>
        <p:spPr>
          <a:xfrm>
            <a:off x="5806440" y="2624328"/>
            <a:ext cx="640080" cy="310896"/>
          </a:xfrm>
          <a:prstGeom prst="rightArrow">
            <a:avLst/>
          </a:prstGeom>
          <a:solidFill>
            <a:schemeClr val="accent1"/>
          </a:solidFill>
          <a:ln w="12700">
            <a:solidFill>
              <a:schemeClr val="accent1"/>
            </a:solidFill>
            <a:prstDash val="solid"/>
          </a:ln>
        </p:spPr>
      </p:sp>
      <p:sp>
        <p:nvSpPr>
          <p:cNvPr id="13" name="card-68"/>
          <p:cNvSpPr/>
          <p:nvPr/>
        </p:nvSpPr>
        <p:spPr>
          <a:xfrm>
            <a:off x="6675120" y="2496312"/>
            <a:ext cx="4937760" cy="566928"/>
          </a:xfrm>
          <a:prstGeom prst="roundRect">
            <a:avLst>
              <a:gd name="adj" fmla="val 12903"/>
            </a:avLst>
          </a:prstGeom>
          <a:solidFill>
            <a:schemeClr val="tx2"/>
          </a:solidFill>
          <a:ln w="12700">
            <a:solidFill>
              <a:schemeClr val="tx2"/>
            </a:solidFill>
            <a:prstDash val="solid"/>
          </a:ln>
        </p:spPr>
      </p:sp>
      <p:sp>
        <p:nvSpPr>
          <p:cNvPr id="14" name="txt-69"/>
          <p:cNvSpPr txBox="1"/>
          <p:nvPr/>
        </p:nvSpPr>
        <p:spPr>
          <a:xfrm>
            <a:off x="6858000" y="2496312"/>
            <a:ext cx="4663440" cy="566928"/>
          </a:xfrm>
          <a:prstGeom prst="rect">
            <a:avLst/>
          </a:prstGeom>
          <a:noFill/>
          <a:ln/>
        </p:spPr>
        <p:txBody>
          <a:bodyPr wrap="square" lIns="0" tIns="0" rIns="0" bIns="0" rtlCol="0" anchor="ctr"/>
          <a:lstStyle/>
          <a:p>
            <a:pPr indent="0" marL="0">
              <a:buNone/>
            </a:pPr>
            <a:r>
              <a:rPr lang="en-US" sz="1400" b="1" dirty="0">
                <a:solidFill>
                  <a:schemeClr val="bg1"/>
                </a:solidFill>
              </a:rPr>
              <a:t>One signed-off definition: 13.1%</a:t>
            </a:r>
            <a:endParaRPr lang="en-US" sz="1400" dirty="0"/>
          </a:p>
        </p:txBody>
      </p:sp>
      <p:sp>
        <p:nvSpPr>
          <p:cNvPr id="15" name="card-70"/>
          <p:cNvSpPr/>
          <p:nvPr/>
        </p:nvSpPr>
        <p:spPr>
          <a:xfrm>
            <a:off x="548640" y="3209544"/>
            <a:ext cx="5029200" cy="566928"/>
          </a:xfrm>
          <a:prstGeom prst="roundRect">
            <a:avLst>
              <a:gd name="adj" fmla="val 12903"/>
            </a:avLst>
          </a:prstGeom>
          <a:solidFill>
            <a:schemeClr val="bg2"/>
          </a:solidFill>
          <a:ln w="12700">
            <a:solidFill>
              <a:schemeClr val="bg2"/>
            </a:solidFill>
            <a:prstDash val="solid"/>
          </a:ln>
        </p:spPr>
      </p:sp>
      <p:sp>
        <p:nvSpPr>
          <p:cNvPr id="16" name="txt-71"/>
          <p:cNvSpPr txBox="1"/>
          <p:nvPr/>
        </p:nvSpPr>
        <p:spPr>
          <a:xfrm>
            <a:off x="731520" y="3209544"/>
            <a:ext cx="4754880" cy="566928"/>
          </a:xfrm>
          <a:prstGeom prst="rect">
            <a:avLst/>
          </a:prstGeom>
          <a:noFill/>
          <a:ln/>
        </p:spPr>
        <p:txBody>
          <a:bodyPr wrap="square" lIns="0" tIns="0" rIns="0" bIns="0" rtlCol="0" anchor="ctr"/>
          <a:lstStyle/>
          <a:p>
            <a:pPr indent="0" marL="0">
              <a:buNone/>
            </a:pPr>
            <a:r>
              <a:rPr lang="en-US" sz="1400" dirty="0">
                <a:solidFill>
                  <a:schemeClr val="tx1"/>
                </a:solidFill>
              </a:rPr>
              <a:t>Theatres 64.2% vs 71.6% argument</a:t>
            </a:r>
            <a:endParaRPr lang="en-US" sz="1400" dirty="0"/>
          </a:p>
        </p:txBody>
      </p:sp>
      <p:sp>
        <p:nvSpPr>
          <p:cNvPr id="17" name="arrow-72"/>
          <p:cNvSpPr/>
          <p:nvPr/>
        </p:nvSpPr>
        <p:spPr>
          <a:xfrm>
            <a:off x="5806440" y="3337560"/>
            <a:ext cx="640080" cy="310896"/>
          </a:xfrm>
          <a:prstGeom prst="rightArrow">
            <a:avLst/>
          </a:prstGeom>
          <a:solidFill>
            <a:schemeClr val="accent1"/>
          </a:solidFill>
          <a:ln w="12700">
            <a:solidFill>
              <a:schemeClr val="accent1"/>
            </a:solidFill>
            <a:prstDash val="solid"/>
          </a:ln>
        </p:spPr>
      </p:sp>
      <p:sp>
        <p:nvSpPr>
          <p:cNvPr id="18" name="card-73"/>
          <p:cNvSpPr/>
          <p:nvPr/>
        </p:nvSpPr>
        <p:spPr>
          <a:xfrm>
            <a:off x="6675120" y="3209544"/>
            <a:ext cx="4937760" cy="566928"/>
          </a:xfrm>
          <a:prstGeom prst="roundRect">
            <a:avLst>
              <a:gd name="adj" fmla="val 12903"/>
            </a:avLst>
          </a:prstGeom>
          <a:solidFill>
            <a:schemeClr val="tx2"/>
          </a:solidFill>
          <a:ln w="12700">
            <a:solidFill>
              <a:schemeClr val="tx2"/>
            </a:solidFill>
            <a:prstDash val="solid"/>
          </a:ln>
        </p:spPr>
      </p:sp>
      <p:sp>
        <p:nvSpPr>
          <p:cNvPr id="19" name="txt-74"/>
          <p:cNvSpPr txBox="1"/>
          <p:nvPr/>
        </p:nvSpPr>
        <p:spPr>
          <a:xfrm>
            <a:off x="6858000" y="3209544"/>
            <a:ext cx="4663440" cy="566928"/>
          </a:xfrm>
          <a:prstGeom prst="rect">
            <a:avLst/>
          </a:prstGeom>
          <a:noFill/>
          <a:ln/>
        </p:spPr>
        <p:txBody>
          <a:bodyPr wrap="square" lIns="0" tIns="0" rIns="0" bIns="0" rtlCol="0" anchor="ctr"/>
          <a:lstStyle/>
          <a:p>
            <a:pPr indent="0" marL="0">
              <a:buNone/>
            </a:pPr>
            <a:r>
              <a:rPr lang="en-US" sz="1400" b="1" dirty="0">
                <a:solidFill>
                  <a:schemeClr val="bg1"/>
                </a:solidFill>
              </a:rPr>
              <a:t>One labelled GIRFT measure: 64.2%</a:t>
            </a:r>
            <a:endParaRPr lang="en-US" sz="1400" dirty="0"/>
          </a:p>
        </p:txBody>
      </p:sp>
      <p:sp>
        <p:nvSpPr>
          <p:cNvPr id="20" name="card-75"/>
          <p:cNvSpPr/>
          <p:nvPr/>
        </p:nvSpPr>
        <p:spPr>
          <a:xfrm>
            <a:off x="548640" y="3922776"/>
            <a:ext cx="5029200" cy="566928"/>
          </a:xfrm>
          <a:prstGeom prst="roundRect">
            <a:avLst>
              <a:gd name="adj" fmla="val 12903"/>
            </a:avLst>
          </a:prstGeom>
          <a:solidFill>
            <a:schemeClr val="bg2"/>
          </a:solidFill>
          <a:ln w="12700">
            <a:solidFill>
              <a:schemeClr val="bg2"/>
            </a:solidFill>
            <a:prstDash val="solid"/>
          </a:ln>
        </p:spPr>
      </p:sp>
      <p:sp>
        <p:nvSpPr>
          <p:cNvPr id="21" name="txt-76"/>
          <p:cNvSpPr txBox="1"/>
          <p:nvPr/>
        </p:nvSpPr>
        <p:spPr>
          <a:xfrm>
            <a:off x="731520" y="3922776"/>
            <a:ext cx="4754880" cy="566928"/>
          </a:xfrm>
          <a:prstGeom prst="rect">
            <a:avLst/>
          </a:prstGeom>
          <a:noFill/>
          <a:ln/>
        </p:spPr>
        <p:txBody>
          <a:bodyPr wrap="square" lIns="0" tIns="0" rIns="0" bIns="0" rtlCol="0" anchor="ctr"/>
          <a:lstStyle/>
          <a:p>
            <a:pPr indent="0" marL="0">
              <a:buNone/>
            </a:pPr>
            <a:r>
              <a:rPr lang="en-US" sz="1400" dirty="0">
                <a:solidFill>
                  <a:schemeClr val="tx1"/>
                </a:solidFill>
              </a:rPr>
              <a:t>Cleaning by hand in each Excel copy</a:t>
            </a:r>
            <a:endParaRPr lang="en-US" sz="1400" dirty="0"/>
          </a:p>
        </p:txBody>
      </p:sp>
      <p:sp>
        <p:nvSpPr>
          <p:cNvPr id="22" name="arrow-77"/>
          <p:cNvSpPr/>
          <p:nvPr/>
        </p:nvSpPr>
        <p:spPr>
          <a:xfrm>
            <a:off x="5806440" y="4050792"/>
            <a:ext cx="640080" cy="310896"/>
          </a:xfrm>
          <a:prstGeom prst="rightArrow">
            <a:avLst/>
          </a:prstGeom>
          <a:solidFill>
            <a:schemeClr val="accent1"/>
          </a:solidFill>
          <a:ln w="12700">
            <a:solidFill>
              <a:schemeClr val="accent1"/>
            </a:solidFill>
            <a:prstDash val="solid"/>
          </a:ln>
        </p:spPr>
      </p:sp>
      <p:sp>
        <p:nvSpPr>
          <p:cNvPr id="23" name="card-78"/>
          <p:cNvSpPr/>
          <p:nvPr/>
        </p:nvSpPr>
        <p:spPr>
          <a:xfrm>
            <a:off x="6675120" y="3922776"/>
            <a:ext cx="4937760" cy="566928"/>
          </a:xfrm>
          <a:prstGeom prst="roundRect">
            <a:avLst>
              <a:gd name="adj" fmla="val 12903"/>
            </a:avLst>
          </a:prstGeom>
          <a:solidFill>
            <a:schemeClr val="tx2"/>
          </a:solidFill>
          <a:ln w="12700">
            <a:solidFill>
              <a:schemeClr val="tx2"/>
            </a:solidFill>
            <a:prstDash val="solid"/>
          </a:ln>
        </p:spPr>
      </p:sp>
      <p:sp>
        <p:nvSpPr>
          <p:cNvPr id="24" name="txt-79"/>
          <p:cNvSpPr txBox="1"/>
          <p:nvPr/>
        </p:nvSpPr>
        <p:spPr>
          <a:xfrm>
            <a:off x="6858000" y="3922776"/>
            <a:ext cx="4663440" cy="566928"/>
          </a:xfrm>
          <a:prstGeom prst="rect">
            <a:avLst/>
          </a:prstGeom>
          <a:noFill/>
          <a:ln/>
        </p:spPr>
        <p:txBody>
          <a:bodyPr wrap="square" lIns="0" tIns="0" rIns="0" bIns="0" rtlCol="0" anchor="ctr"/>
          <a:lstStyle/>
          <a:p>
            <a:pPr indent="0" marL="0">
              <a:buNone/>
            </a:pPr>
            <a:r>
              <a:rPr lang="en-US" sz="1400" b="1" dirty="0">
                <a:solidFill>
                  <a:schemeClr val="bg1"/>
                </a:solidFill>
              </a:rPr>
              <a:t>Rules applied once, in Snowflake views</a:t>
            </a:r>
            <a:endParaRPr lang="en-US" sz="1400" dirty="0"/>
          </a:p>
        </p:txBody>
      </p:sp>
      <p:sp>
        <p:nvSpPr>
          <p:cNvPr id="25" name="card-80"/>
          <p:cNvSpPr/>
          <p:nvPr/>
        </p:nvSpPr>
        <p:spPr>
          <a:xfrm>
            <a:off x="548640" y="4636008"/>
            <a:ext cx="5029200" cy="566928"/>
          </a:xfrm>
          <a:prstGeom prst="roundRect">
            <a:avLst>
              <a:gd name="adj" fmla="val 12903"/>
            </a:avLst>
          </a:prstGeom>
          <a:solidFill>
            <a:schemeClr val="bg2"/>
          </a:solidFill>
          <a:ln w="12700">
            <a:solidFill>
              <a:schemeClr val="bg2"/>
            </a:solidFill>
            <a:prstDash val="solid"/>
          </a:ln>
        </p:spPr>
      </p:sp>
      <p:sp>
        <p:nvSpPr>
          <p:cNvPr id="26" name="txt-81"/>
          <p:cNvSpPr txBox="1"/>
          <p:nvPr/>
        </p:nvSpPr>
        <p:spPr>
          <a:xfrm>
            <a:off x="731520" y="4636008"/>
            <a:ext cx="4754880" cy="566928"/>
          </a:xfrm>
          <a:prstGeom prst="rect">
            <a:avLst/>
          </a:prstGeom>
          <a:noFill/>
          <a:ln/>
        </p:spPr>
        <p:txBody>
          <a:bodyPr wrap="square" lIns="0" tIns="0" rIns="0" bIns="0" rtlCol="0" anchor="ctr"/>
          <a:lstStyle/>
          <a:p>
            <a:pPr indent="0" marL="0">
              <a:buNone/>
            </a:pPr>
            <a:r>
              <a:rPr lang="en-US" sz="1400" dirty="0">
                <a:solidFill>
                  <a:schemeClr val="tx1"/>
                </a:solidFill>
              </a:rPr>
              <a:t>Monday report: 90 minutes, lapses on leave</a:t>
            </a:r>
            <a:endParaRPr lang="en-US" sz="1400" dirty="0"/>
          </a:p>
        </p:txBody>
      </p:sp>
      <p:sp>
        <p:nvSpPr>
          <p:cNvPr id="27" name="arrow-82"/>
          <p:cNvSpPr/>
          <p:nvPr/>
        </p:nvSpPr>
        <p:spPr>
          <a:xfrm>
            <a:off x="5806440" y="4764024"/>
            <a:ext cx="640080" cy="310896"/>
          </a:xfrm>
          <a:prstGeom prst="rightArrow">
            <a:avLst/>
          </a:prstGeom>
          <a:solidFill>
            <a:schemeClr val="accent1"/>
          </a:solidFill>
          <a:ln w="12700">
            <a:solidFill>
              <a:schemeClr val="accent1"/>
            </a:solidFill>
            <a:prstDash val="solid"/>
          </a:ln>
        </p:spPr>
      </p:sp>
      <p:sp>
        <p:nvSpPr>
          <p:cNvPr id="28" name="card-83"/>
          <p:cNvSpPr/>
          <p:nvPr/>
        </p:nvSpPr>
        <p:spPr>
          <a:xfrm>
            <a:off x="6675120" y="4636008"/>
            <a:ext cx="4937760" cy="566928"/>
          </a:xfrm>
          <a:prstGeom prst="roundRect">
            <a:avLst>
              <a:gd name="adj" fmla="val 12903"/>
            </a:avLst>
          </a:prstGeom>
          <a:solidFill>
            <a:schemeClr val="tx2"/>
          </a:solidFill>
          <a:ln w="12700">
            <a:solidFill>
              <a:schemeClr val="tx2"/>
            </a:solidFill>
            <a:prstDash val="solid"/>
          </a:ln>
        </p:spPr>
      </p:sp>
      <p:sp>
        <p:nvSpPr>
          <p:cNvPr id="29" name="txt-84"/>
          <p:cNvSpPr txBox="1"/>
          <p:nvPr/>
        </p:nvSpPr>
        <p:spPr>
          <a:xfrm>
            <a:off x="6858000" y="4636008"/>
            <a:ext cx="4663440" cy="566928"/>
          </a:xfrm>
          <a:prstGeom prst="rect">
            <a:avLst/>
          </a:prstGeom>
          <a:noFill/>
          <a:ln/>
        </p:spPr>
        <p:txBody>
          <a:bodyPr wrap="square" lIns="0" tIns="0" rIns="0" bIns="0" rtlCol="0" anchor="ctr"/>
          <a:lstStyle/>
          <a:p>
            <a:pPr indent="0" marL="0">
              <a:buNone/>
            </a:pPr>
            <a:r>
              <a:rPr lang="en-US" sz="1400" b="1" dirty="0">
                <a:solidFill>
                  <a:schemeClr val="bg1"/>
                </a:solidFill>
              </a:rPr>
              <a:t>Python report: under 60 seconds, scheduled 07:00</a:t>
            </a:r>
            <a:endParaRPr lang="en-US" sz="1400" dirty="0"/>
          </a:p>
        </p:txBody>
      </p:sp>
      <p:sp>
        <p:nvSpPr>
          <p:cNvPr id="30" name="card-85"/>
          <p:cNvSpPr/>
          <p:nvPr/>
        </p:nvSpPr>
        <p:spPr>
          <a:xfrm>
            <a:off x="548640" y="5349240"/>
            <a:ext cx="5029200" cy="566928"/>
          </a:xfrm>
          <a:prstGeom prst="roundRect">
            <a:avLst>
              <a:gd name="adj" fmla="val 12903"/>
            </a:avLst>
          </a:prstGeom>
          <a:solidFill>
            <a:schemeClr val="bg2"/>
          </a:solidFill>
          <a:ln w="12700">
            <a:solidFill>
              <a:schemeClr val="bg2"/>
            </a:solidFill>
            <a:prstDash val="solid"/>
          </a:ln>
        </p:spPr>
      </p:sp>
      <p:sp>
        <p:nvSpPr>
          <p:cNvPr id="31" name="txt-86"/>
          <p:cNvSpPr txBox="1"/>
          <p:nvPr/>
        </p:nvSpPr>
        <p:spPr>
          <a:xfrm>
            <a:off x="731520" y="5349240"/>
            <a:ext cx="4754880" cy="566928"/>
          </a:xfrm>
          <a:prstGeom prst="rect">
            <a:avLst/>
          </a:prstGeom>
          <a:noFill/>
          <a:ln/>
        </p:spPr>
        <p:txBody>
          <a:bodyPr wrap="square" lIns="0" tIns="0" rIns="0" bIns="0" rtlCol="0" anchor="ctr"/>
          <a:lstStyle/>
          <a:p>
            <a:pPr indent="0" marL="0">
              <a:buNone/>
            </a:pPr>
            <a:r>
              <a:rPr lang="en-US" sz="1400" dirty="0">
                <a:solidFill>
                  <a:schemeClr val="tx1"/>
                </a:solidFill>
              </a:rPr>
              <a:t>DQ score calculated separately by hand</a:t>
            </a:r>
            <a:endParaRPr lang="en-US" sz="1400" dirty="0"/>
          </a:p>
        </p:txBody>
      </p:sp>
      <p:sp>
        <p:nvSpPr>
          <p:cNvPr id="32" name="arrow-87"/>
          <p:cNvSpPr/>
          <p:nvPr/>
        </p:nvSpPr>
        <p:spPr>
          <a:xfrm>
            <a:off x="5806440" y="5477256"/>
            <a:ext cx="640080" cy="310896"/>
          </a:xfrm>
          <a:prstGeom prst="rightArrow">
            <a:avLst/>
          </a:prstGeom>
          <a:solidFill>
            <a:schemeClr val="accent1"/>
          </a:solidFill>
          <a:ln w="12700">
            <a:solidFill>
              <a:schemeClr val="accent1"/>
            </a:solidFill>
            <a:prstDash val="solid"/>
          </a:ln>
        </p:spPr>
      </p:sp>
      <p:sp>
        <p:nvSpPr>
          <p:cNvPr id="33" name="card-88"/>
          <p:cNvSpPr/>
          <p:nvPr/>
        </p:nvSpPr>
        <p:spPr>
          <a:xfrm>
            <a:off x="6675120" y="5349240"/>
            <a:ext cx="4937760" cy="566928"/>
          </a:xfrm>
          <a:prstGeom prst="roundRect">
            <a:avLst>
              <a:gd name="adj" fmla="val 12903"/>
            </a:avLst>
          </a:prstGeom>
          <a:solidFill>
            <a:schemeClr val="tx2"/>
          </a:solidFill>
          <a:ln w="12700">
            <a:solidFill>
              <a:schemeClr val="tx2"/>
            </a:solidFill>
            <a:prstDash val="solid"/>
          </a:ln>
        </p:spPr>
      </p:sp>
      <p:sp>
        <p:nvSpPr>
          <p:cNvPr id="34" name="txt-89"/>
          <p:cNvSpPr txBox="1"/>
          <p:nvPr/>
        </p:nvSpPr>
        <p:spPr>
          <a:xfrm>
            <a:off x="6858000" y="5349240"/>
            <a:ext cx="4663440" cy="566928"/>
          </a:xfrm>
          <a:prstGeom prst="rect">
            <a:avLst/>
          </a:prstGeom>
          <a:noFill/>
          <a:ln/>
        </p:spPr>
        <p:txBody>
          <a:bodyPr wrap="square" lIns="0" tIns="0" rIns="0" bIns="0" rtlCol="0" anchor="ctr"/>
          <a:lstStyle/>
          <a:p>
            <a:pPr indent="0" marL="0">
              <a:buNone/>
            </a:pPr>
            <a:r>
              <a:rPr lang="en-US" sz="1400" b="1" dirty="0">
                <a:solidFill>
                  <a:schemeClr val="bg1"/>
                </a:solidFill>
              </a:rPr>
              <a:t>Scored weekly and automatically for the DSP Toolkit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Findings 1–2: the problem is concentrated in Orthopaedics</a:t>
            </a:r>
            <a:endParaRPr lang="en-US" sz="2800" dirty="0"/>
          </a:p>
        </p:txBody>
      </p:sp>
      <p:graphicFrame>
        <p:nvGraphicFramePr>
          <p:cNvPr id="3" name="chart-90" descr=""/>
          <p:cNvGraphicFramePr/>
          <p:nvPr/>
        </p:nvGraphicFramePr>
        <p:xfrm>
          <a:off x="548640" y="1325880"/>
          <a:ext cx="6035040" cy="4526280"/>
        </p:xfrm>
        <a:graphic xmlns:a="http://schemas.openxmlformats.org/drawingml/2006/main">
          <a:graphicData uri="http://schemas.openxmlformats.org/drawingml/2006/chart">
            <c:chart xmlns:c="http://schemas.openxmlformats.org/drawingml/2006/chart" r:id="rId1"/>
          </a:graphicData>
        </a:graphic>
      </p:graphicFrame>
      <p:sp>
        <p:nvSpPr>
          <p:cNvPr id="4" name="card-91"/>
          <p:cNvSpPr/>
          <p:nvPr/>
        </p:nvSpPr>
        <p:spPr>
          <a:xfrm>
            <a:off x="6949440" y="1371600"/>
            <a:ext cx="4663440" cy="2011680"/>
          </a:xfrm>
          <a:prstGeom prst="roundRect">
            <a:avLst>
              <a:gd name="adj" fmla="val 3636"/>
            </a:avLst>
          </a:prstGeom>
          <a:solidFill>
            <a:schemeClr val="bg2"/>
          </a:solidFill>
          <a:ln w="12700">
            <a:solidFill>
              <a:schemeClr val="bg2"/>
            </a:solidFill>
            <a:prstDash val="solid"/>
          </a:ln>
        </p:spPr>
      </p:sp>
      <p:sp>
        <p:nvSpPr>
          <p:cNvPr id="5" name="num-92"/>
          <p:cNvSpPr/>
          <p:nvPr/>
        </p:nvSpPr>
        <p:spPr>
          <a:xfrm>
            <a:off x="7178040" y="1600200"/>
            <a:ext cx="502920" cy="502920"/>
          </a:xfrm>
          <a:prstGeom prst="ellipse">
            <a:avLst/>
          </a:prstGeom>
          <a:solidFill>
            <a:schemeClr val="accent1"/>
          </a:solidFill>
          <a:ln w="12700">
            <a:solidFill>
              <a:schemeClr val="accent1"/>
            </a:solidFill>
            <a:prstDash val="solid"/>
          </a:ln>
        </p:spPr>
      </p:sp>
      <p:sp>
        <p:nvSpPr>
          <p:cNvPr id="6" name="txt-93"/>
          <p:cNvSpPr txBox="1"/>
          <p:nvPr/>
        </p:nvSpPr>
        <p:spPr>
          <a:xfrm>
            <a:off x="7178040" y="160020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7" name="txt-94"/>
          <p:cNvSpPr txBox="1"/>
          <p:nvPr/>
        </p:nvSpPr>
        <p:spPr>
          <a:xfrm>
            <a:off x="7863840" y="1554480"/>
            <a:ext cx="3566160" cy="594360"/>
          </a:xfrm>
          <a:prstGeom prst="rect">
            <a:avLst/>
          </a:prstGeom>
          <a:noFill/>
          <a:ln/>
        </p:spPr>
        <p:txBody>
          <a:bodyPr wrap="square" lIns="0" tIns="0" rIns="0" bIns="0" rtlCol="0" anchor="ctr"/>
          <a:lstStyle/>
          <a:p>
            <a:pPr indent="0" marL="0">
              <a:buNone/>
            </a:pPr>
            <a:r>
              <a:rPr lang="en-US" sz="1600" b="1" dirty="0">
                <a:solidFill>
                  <a:schemeClr val="tx2"/>
                </a:solidFill>
              </a:rPr>
              <a:t>9 of 10 specialties are Red</a:t>
            </a:r>
            <a:endParaRPr lang="en-US" sz="1600" dirty="0"/>
          </a:p>
        </p:txBody>
      </p:sp>
      <p:sp>
        <p:nvSpPr>
          <p:cNvPr id="8" name="txt-95"/>
          <p:cNvSpPr txBox="1"/>
          <p:nvPr/>
        </p:nvSpPr>
        <p:spPr>
          <a:xfrm>
            <a:off x="7178040" y="2240280"/>
            <a:ext cx="4251960" cy="1051560"/>
          </a:xfrm>
          <a:prstGeom prst="rect">
            <a:avLst/>
          </a:prstGeom>
          <a:noFill/>
          <a:ln/>
        </p:spPr>
        <p:txBody>
          <a:bodyPr wrap="square" lIns="0" tIns="0" rIns="0" bIns="0" rtlCol="0" anchor="t"/>
          <a:lstStyle/>
          <a:p>
            <a:pPr indent="0" marL="0">
              <a:buNone/>
            </a:pPr>
            <a:r>
              <a:rPr lang="en-US" sz="1300" dirty="0">
                <a:solidFill>
                  <a:schemeClr val="tx1"/>
                </a:solidFill>
              </a:rPr>
              <a:t>Only Emergency Medicine (37 pathways, 100%) meets 92%. Respiratory has all 9 open pathways breaching. The Board scorecard's 74.8% hid this.</a:t>
            </a:r>
            <a:endParaRPr lang="en-US" sz="1300" dirty="0"/>
          </a:p>
        </p:txBody>
      </p:sp>
      <p:sp>
        <p:nvSpPr>
          <p:cNvPr id="9" name="card-96"/>
          <p:cNvSpPr/>
          <p:nvPr/>
        </p:nvSpPr>
        <p:spPr>
          <a:xfrm>
            <a:off x="6949440" y="3611880"/>
            <a:ext cx="4663440" cy="2011680"/>
          </a:xfrm>
          <a:prstGeom prst="roundRect">
            <a:avLst>
              <a:gd name="adj" fmla="val 3636"/>
            </a:avLst>
          </a:prstGeom>
          <a:solidFill>
            <a:schemeClr val="bg2"/>
          </a:solidFill>
          <a:ln w="12700">
            <a:solidFill>
              <a:schemeClr val="bg2"/>
            </a:solidFill>
            <a:prstDash val="solid"/>
          </a:ln>
        </p:spPr>
      </p:sp>
      <p:sp>
        <p:nvSpPr>
          <p:cNvPr id="10" name="num-97"/>
          <p:cNvSpPr/>
          <p:nvPr/>
        </p:nvSpPr>
        <p:spPr>
          <a:xfrm>
            <a:off x="7178040" y="3840480"/>
            <a:ext cx="502920" cy="502920"/>
          </a:xfrm>
          <a:prstGeom prst="ellipse">
            <a:avLst/>
          </a:prstGeom>
          <a:solidFill>
            <a:schemeClr val="accent1"/>
          </a:solidFill>
          <a:ln w="12700">
            <a:solidFill>
              <a:schemeClr val="accent1"/>
            </a:solidFill>
            <a:prstDash val="solid"/>
          </a:ln>
        </p:spPr>
      </p:sp>
      <p:sp>
        <p:nvSpPr>
          <p:cNvPr id="11" name="txt-98"/>
          <p:cNvSpPr txBox="1"/>
          <p:nvPr/>
        </p:nvSpPr>
        <p:spPr>
          <a:xfrm>
            <a:off x="7178040" y="384048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xt-99"/>
          <p:cNvSpPr txBox="1"/>
          <p:nvPr/>
        </p:nvSpPr>
        <p:spPr>
          <a:xfrm>
            <a:off x="7863840" y="3794760"/>
            <a:ext cx="3566160" cy="594360"/>
          </a:xfrm>
          <a:prstGeom prst="rect">
            <a:avLst/>
          </a:prstGeom>
          <a:noFill/>
          <a:ln/>
        </p:spPr>
        <p:txBody>
          <a:bodyPr wrap="square" lIns="0" tIns="0" rIns="0" bIns="0" rtlCol="0" anchor="ctr"/>
          <a:lstStyle/>
          <a:p>
            <a:pPr indent="0" marL="0">
              <a:buNone/>
            </a:pPr>
            <a:r>
              <a:rPr lang="en-US" sz="1600" b="1" dirty="0">
                <a:solidFill>
                  <a:schemeClr val="tx2"/>
                </a:solidFill>
              </a:rPr>
              <a:t>Orthopaedics: the longest waits and the most DNAs</a:t>
            </a:r>
            <a:endParaRPr lang="en-US" sz="1600" dirty="0"/>
          </a:p>
        </p:txBody>
      </p:sp>
      <p:sp>
        <p:nvSpPr>
          <p:cNvPr id="13" name="txt-100"/>
          <p:cNvSpPr txBox="1"/>
          <p:nvPr/>
        </p:nvSpPr>
        <p:spPr>
          <a:xfrm>
            <a:off x="7178040" y="4480560"/>
            <a:ext cx="4251960" cy="1051560"/>
          </a:xfrm>
          <a:prstGeom prst="rect">
            <a:avLst/>
          </a:prstGeom>
          <a:noFill/>
          <a:ln/>
        </p:spPr>
        <p:txBody>
          <a:bodyPr wrap="square" lIns="0" tIns="0" rIns="0" bIns="0" rtlCol="0" anchor="t"/>
          <a:lstStyle/>
          <a:p>
            <a:pPr indent="0" marL="0">
              <a:buNone/>
            </a:pPr>
            <a:r>
              <a:rPr lang="en-US" sz="1300" dirty="0">
                <a:solidFill>
                  <a:schemeClr val="tx1"/>
                </a:solidFill>
              </a:rPr>
              <a:t>17 of 19 open pathways breaching; average wait 253 days; longest 423 days (60.4 weeks). Clinic CL-103 misses 37.0% of appointments.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Findings 3–5: coding, identity and money leaking</a:t>
            </a:r>
            <a:endParaRPr lang="en-US" sz="2800" dirty="0"/>
          </a:p>
        </p:txBody>
      </p:sp>
      <p:sp>
        <p:nvSpPr>
          <p:cNvPr id="3" name="card-101"/>
          <p:cNvSpPr/>
          <p:nvPr/>
        </p:nvSpPr>
        <p:spPr>
          <a:xfrm>
            <a:off x="548640" y="1371600"/>
            <a:ext cx="3474720" cy="4572000"/>
          </a:xfrm>
          <a:prstGeom prst="roundRect">
            <a:avLst>
              <a:gd name="adj" fmla="val 2105"/>
            </a:avLst>
          </a:prstGeom>
          <a:solidFill>
            <a:schemeClr val="bg2"/>
          </a:solidFill>
          <a:ln w="12700">
            <a:solidFill>
              <a:schemeClr val="bg2"/>
            </a:solidFill>
            <a:prstDash val="solid"/>
          </a:ln>
        </p:spPr>
      </p:sp>
      <p:sp>
        <p:nvSpPr>
          <p:cNvPr id="4" name="num-102"/>
          <p:cNvSpPr/>
          <p:nvPr/>
        </p:nvSpPr>
        <p:spPr>
          <a:xfrm>
            <a:off x="822960" y="1645920"/>
            <a:ext cx="502920" cy="502920"/>
          </a:xfrm>
          <a:prstGeom prst="ellipse">
            <a:avLst/>
          </a:prstGeom>
          <a:solidFill>
            <a:schemeClr val="accent1"/>
          </a:solidFill>
          <a:ln w="12700">
            <a:solidFill>
              <a:schemeClr val="accent1"/>
            </a:solidFill>
            <a:prstDash val="solid"/>
          </a:ln>
        </p:spPr>
      </p:sp>
      <p:sp>
        <p:nvSpPr>
          <p:cNvPr id="5" name="txt-103"/>
          <p:cNvSpPr txBox="1"/>
          <p:nvPr/>
        </p:nvSpPr>
        <p:spPr>
          <a:xfrm>
            <a:off x="82296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6" name="txt-104"/>
          <p:cNvSpPr txBox="1"/>
          <p:nvPr/>
        </p:nvSpPr>
        <p:spPr>
          <a:xfrm>
            <a:off x="1463040" y="1645920"/>
            <a:ext cx="2377440" cy="502920"/>
          </a:xfrm>
          <a:prstGeom prst="rect">
            <a:avLst/>
          </a:prstGeom>
          <a:noFill/>
          <a:ln/>
        </p:spPr>
        <p:txBody>
          <a:bodyPr wrap="square" lIns="0" tIns="0" rIns="0" bIns="0" rtlCol="0" anchor="ctr"/>
          <a:lstStyle/>
          <a:p>
            <a:pPr indent="0" marL="0">
              <a:buNone/>
            </a:pPr>
            <a:r>
              <a:rPr lang="en-US" sz="1600" b="1" dirty="0">
                <a:solidFill>
                  <a:schemeClr val="tx2"/>
                </a:solidFill>
              </a:rPr>
              <a:t>Cancellations hiding DNAs</a:t>
            </a:r>
            <a:endParaRPr lang="en-US" sz="1600" dirty="0"/>
          </a:p>
        </p:txBody>
      </p:sp>
      <p:sp>
        <p:nvSpPr>
          <p:cNvPr id="7" name="txt-105"/>
          <p:cNvSpPr txBox="1"/>
          <p:nvPr/>
        </p:nvSpPr>
        <p:spPr>
          <a:xfrm>
            <a:off x="822960" y="2377440"/>
            <a:ext cx="3017520" cy="868680"/>
          </a:xfrm>
          <a:prstGeom prst="rect">
            <a:avLst/>
          </a:prstGeom>
          <a:noFill/>
          <a:ln/>
        </p:spPr>
        <p:txBody>
          <a:bodyPr wrap="square" lIns="0" tIns="0" rIns="0" bIns="0" rtlCol="0" anchor="t"/>
          <a:lstStyle/>
          <a:p>
            <a:pPr indent="0" marL="0">
              <a:buNone/>
            </a:pPr>
            <a:r>
              <a:rPr lang="en-US" sz="4400" b="1" dirty="0">
                <a:solidFill>
                  <a:schemeClr val="tx2"/>
                </a:solidFill>
              </a:rPr>
              <a:t>29.7%</a:t>
            </a:r>
            <a:endParaRPr lang="en-US" sz="4400" dirty="0"/>
          </a:p>
        </p:txBody>
      </p:sp>
      <p:sp>
        <p:nvSpPr>
          <p:cNvPr id="8" name="rag-106"/>
          <p:cNvSpPr/>
          <p:nvPr/>
        </p:nvSpPr>
        <p:spPr>
          <a:xfrm>
            <a:off x="822960" y="3383280"/>
            <a:ext cx="228600" cy="228600"/>
          </a:xfrm>
          <a:prstGeom prst="ellipse">
            <a:avLst/>
          </a:prstGeom>
          <a:solidFill>
            <a:schemeClr val="accent3"/>
          </a:solidFill>
          <a:ln w="12700">
            <a:solidFill>
              <a:schemeClr val="accent3"/>
            </a:solidFill>
            <a:prstDash val="solid"/>
          </a:ln>
        </p:spPr>
      </p:sp>
      <p:sp>
        <p:nvSpPr>
          <p:cNvPr id="9" name="txt-107"/>
          <p:cNvSpPr txBox="1"/>
          <p:nvPr/>
        </p:nvSpPr>
        <p:spPr>
          <a:xfrm>
            <a:off x="822960" y="3749040"/>
            <a:ext cx="3017520" cy="2011680"/>
          </a:xfrm>
          <a:prstGeom prst="rect">
            <a:avLst/>
          </a:prstGeom>
          <a:noFill/>
          <a:ln/>
        </p:spPr>
        <p:txBody>
          <a:bodyPr wrap="square" lIns="0" tIns="0" rIns="0" bIns="0" rtlCol="0" anchor="t"/>
          <a:lstStyle/>
          <a:p>
            <a:pPr indent="0" marL="0">
              <a:buNone/>
            </a:pPr>
            <a:r>
              <a:rPr lang="en-US" sz="1400" dirty="0">
                <a:solidFill>
                  <a:schemeClr val="tx1"/>
                </a:solidFill>
              </a:rPr>
              <a:t>of appointments cancelled by EM consultant C-1009, three times the next highest, while EM reports 0% DNA. DNAs are likely coded as Trust cancellations.</a:t>
            </a:r>
            <a:endParaRPr lang="en-US" sz="1400" dirty="0"/>
          </a:p>
        </p:txBody>
      </p:sp>
      <p:sp>
        <p:nvSpPr>
          <p:cNvPr id="10" name="card-108"/>
          <p:cNvSpPr/>
          <p:nvPr/>
        </p:nvSpPr>
        <p:spPr>
          <a:xfrm>
            <a:off x="4297680" y="1371600"/>
            <a:ext cx="3474720" cy="4572000"/>
          </a:xfrm>
          <a:prstGeom prst="roundRect">
            <a:avLst>
              <a:gd name="adj" fmla="val 2105"/>
            </a:avLst>
          </a:prstGeom>
          <a:solidFill>
            <a:schemeClr val="bg2"/>
          </a:solidFill>
          <a:ln w="12700">
            <a:solidFill>
              <a:schemeClr val="bg2"/>
            </a:solidFill>
            <a:prstDash val="solid"/>
          </a:ln>
        </p:spPr>
      </p:sp>
      <p:sp>
        <p:nvSpPr>
          <p:cNvPr id="11" name="num-109"/>
          <p:cNvSpPr/>
          <p:nvPr/>
        </p:nvSpPr>
        <p:spPr>
          <a:xfrm>
            <a:off x="4572000" y="1645920"/>
            <a:ext cx="502920" cy="502920"/>
          </a:xfrm>
          <a:prstGeom prst="ellipse">
            <a:avLst/>
          </a:prstGeom>
          <a:solidFill>
            <a:schemeClr val="accent1"/>
          </a:solidFill>
          <a:ln w="12700">
            <a:solidFill>
              <a:schemeClr val="accent1"/>
            </a:solidFill>
            <a:prstDash val="solid"/>
          </a:ln>
        </p:spPr>
      </p:sp>
      <p:sp>
        <p:nvSpPr>
          <p:cNvPr id="12" name="txt-110"/>
          <p:cNvSpPr txBox="1"/>
          <p:nvPr/>
        </p:nvSpPr>
        <p:spPr>
          <a:xfrm>
            <a:off x="457200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3" name="txt-111"/>
          <p:cNvSpPr txBox="1"/>
          <p:nvPr/>
        </p:nvSpPr>
        <p:spPr>
          <a:xfrm>
            <a:off x="5212080" y="1645920"/>
            <a:ext cx="2377440" cy="502920"/>
          </a:xfrm>
          <a:prstGeom prst="rect">
            <a:avLst/>
          </a:prstGeom>
          <a:noFill/>
          <a:ln/>
        </p:spPr>
        <p:txBody>
          <a:bodyPr wrap="square" lIns="0" tIns="0" rIns="0" bIns="0" rtlCol="0" anchor="ctr"/>
          <a:lstStyle/>
          <a:p>
            <a:pPr indent="0" marL="0">
              <a:buNone/>
            </a:pPr>
            <a:r>
              <a:rPr lang="en-US" sz="1600" b="1" dirty="0">
                <a:solidFill>
                  <a:schemeClr val="tx2"/>
                </a:solidFill>
              </a:rPr>
              <a:t>Patient identity risk</a:t>
            </a:r>
            <a:endParaRPr lang="en-US" sz="1600" dirty="0"/>
          </a:p>
        </p:txBody>
      </p:sp>
      <p:sp>
        <p:nvSpPr>
          <p:cNvPr id="14" name="txt-112"/>
          <p:cNvSpPr txBox="1"/>
          <p:nvPr/>
        </p:nvSpPr>
        <p:spPr>
          <a:xfrm>
            <a:off x="4572000" y="2377440"/>
            <a:ext cx="3017520" cy="868680"/>
          </a:xfrm>
          <a:prstGeom prst="rect">
            <a:avLst/>
          </a:prstGeom>
          <a:noFill/>
          <a:ln/>
        </p:spPr>
        <p:txBody>
          <a:bodyPr wrap="square" lIns="0" tIns="0" rIns="0" bIns="0" rtlCol="0" anchor="t"/>
          <a:lstStyle/>
          <a:p>
            <a:pPr indent="0" marL="0">
              <a:buNone/>
            </a:pPr>
            <a:r>
              <a:rPr lang="en-US" sz="4400" b="1" dirty="0">
                <a:solidFill>
                  <a:schemeClr val="tx2"/>
                </a:solidFill>
              </a:rPr>
              <a:t>16</a:t>
            </a:r>
            <a:endParaRPr lang="en-US" sz="4400" dirty="0"/>
          </a:p>
        </p:txBody>
      </p:sp>
      <p:sp>
        <p:nvSpPr>
          <p:cNvPr id="15" name="rag-113"/>
          <p:cNvSpPr/>
          <p:nvPr/>
        </p:nvSpPr>
        <p:spPr>
          <a:xfrm>
            <a:off x="4572000" y="3383280"/>
            <a:ext cx="228600" cy="228600"/>
          </a:xfrm>
          <a:prstGeom prst="ellipse">
            <a:avLst/>
          </a:prstGeom>
          <a:solidFill>
            <a:schemeClr val="accent2"/>
          </a:solidFill>
          <a:ln w="12700">
            <a:solidFill>
              <a:schemeClr val="accent2"/>
            </a:solidFill>
            <a:prstDash val="solid"/>
          </a:ln>
        </p:spPr>
      </p:sp>
      <p:sp>
        <p:nvSpPr>
          <p:cNvPr id="16" name="txt-114"/>
          <p:cNvSpPr txBox="1"/>
          <p:nvPr/>
        </p:nvSpPr>
        <p:spPr>
          <a:xfrm>
            <a:off x="4572000" y="3749040"/>
            <a:ext cx="3017520" cy="2011680"/>
          </a:xfrm>
          <a:prstGeom prst="rect">
            <a:avLst/>
          </a:prstGeom>
          <a:noFill/>
          <a:ln/>
        </p:spPr>
        <p:txBody>
          <a:bodyPr wrap="square" lIns="0" tIns="0" rIns="0" bIns="0" rtlCol="0" anchor="t"/>
          <a:lstStyle/>
          <a:p>
            <a:pPr indent="0" marL="0">
              <a:buNone/>
            </a:pPr>
            <a:r>
              <a:rPr lang="en-US" sz="1400" dirty="0">
                <a:solidFill>
                  <a:schemeClr val="tx1"/>
                </a:solidFill>
              </a:rPr>
              <a:t>NHS Numbers belong to more than one person by name or date of birth. No outpatient patient can be matched to inpatient or ED records.</a:t>
            </a:r>
            <a:endParaRPr lang="en-US" sz="1400" dirty="0"/>
          </a:p>
        </p:txBody>
      </p:sp>
      <p:sp>
        <p:nvSpPr>
          <p:cNvPr id="17" name="card-115"/>
          <p:cNvSpPr/>
          <p:nvPr/>
        </p:nvSpPr>
        <p:spPr>
          <a:xfrm>
            <a:off x="8046720" y="1371600"/>
            <a:ext cx="3474720" cy="4572000"/>
          </a:xfrm>
          <a:prstGeom prst="roundRect">
            <a:avLst>
              <a:gd name="adj" fmla="val 2105"/>
            </a:avLst>
          </a:prstGeom>
          <a:solidFill>
            <a:schemeClr val="bg2"/>
          </a:solidFill>
          <a:ln w="12700">
            <a:solidFill>
              <a:schemeClr val="bg2"/>
            </a:solidFill>
            <a:prstDash val="solid"/>
          </a:ln>
        </p:spPr>
      </p:sp>
      <p:sp>
        <p:nvSpPr>
          <p:cNvPr id="18" name="num-116"/>
          <p:cNvSpPr/>
          <p:nvPr/>
        </p:nvSpPr>
        <p:spPr>
          <a:xfrm>
            <a:off x="8321040" y="1645920"/>
            <a:ext cx="502920" cy="502920"/>
          </a:xfrm>
          <a:prstGeom prst="ellipse">
            <a:avLst/>
          </a:prstGeom>
          <a:solidFill>
            <a:schemeClr val="accent1"/>
          </a:solidFill>
          <a:ln w="12700">
            <a:solidFill>
              <a:schemeClr val="accent1"/>
            </a:solidFill>
            <a:prstDash val="solid"/>
          </a:ln>
        </p:spPr>
      </p:sp>
      <p:sp>
        <p:nvSpPr>
          <p:cNvPr id="19" name="txt-117"/>
          <p:cNvSpPr txBox="1"/>
          <p:nvPr/>
        </p:nvSpPr>
        <p:spPr>
          <a:xfrm>
            <a:off x="8321040" y="1645920"/>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0" name="txt-118"/>
          <p:cNvSpPr txBox="1"/>
          <p:nvPr/>
        </p:nvSpPr>
        <p:spPr>
          <a:xfrm>
            <a:off x="8961120" y="1645920"/>
            <a:ext cx="2377440" cy="502920"/>
          </a:xfrm>
          <a:prstGeom prst="rect">
            <a:avLst/>
          </a:prstGeom>
          <a:noFill/>
          <a:ln/>
        </p:spPr>
        <p:txBody>
          <a:bodyPr wrap="square" lIns="0" tIns="0" rIns="0" bIns="0" rtlCol="0" anchor="ctr"/>
          <a:lstStyle/>
          <a:p>
            <a:pPr indent="0" marL="0">
              <a:buNone/>
            </a:pPr>
            <a:r>
              <a:rPr lang="en-US" sz="1600" b="1" dirty="0">
                <a:solidFill>
                  <a:schemeClr val="tx2"/>
                </a:solidFill>
              </a:rPr>
              <a:t>Money leaking</a:t>
            </a:r>
            <a:endParaRPr lang="en-US" sz="1600" dirty="0"/>
          </a:p>
        </p:txBody>
      </p:sp>
      <p:sp>
        <p:nvSpPr>
          <p:cNvPr id="21" name="txt-119"/>
          <p:cNvSpPr txBox="1"/>
          <p:nvPr/>
        </p:nvSpPr>
        <p:spPr>
          <a:xfrm>
            <a:off x="8321040" y="2377440"/>
            <a:ext cx="3017520" cy="868680"/>
          </a:xfrm>
          <a:prstGeom prst="rect">
            <a:avLst/>
          </a:prstGeom>
          <a:noFill/>
          <a:ln/>
        </p:spPr>
        <p:txBody>
          <a:bodyPr wrap="square" lIns="0" tIns="0" rIns="0" bIns="0" rtlCol="0" anchor="t"/>
          <a:lstStyle/>
          <a:p>
            <a:pPr indent="0" marL="0">
              <a:buNone/>
            </a:pPr>
            <a:r>
              <a:rPr lang="en-US" sz="4400" b="1" dirty="0">
                <a:solidFill>
                  <a:schemeClr val="tx2"/>
                </a:solidFill>
              </a:rPr>
              <a:t>£148,820</a:t>
            </a:r>
            <a:endParaRPr lang="en-US" sz="4400" dirty="0"/>
          </a:p>
        </p:txBody>
      </p:sp>
      <p:sp>
        <p:nvSpPr>
          <p:cNvPr id="22" name="rag-120"/>
          <p:cNvSpPr/>
          <p:nvPr/>
        </p:nvSpPr>
        <p:spPr>
          <a:xfrm>
            <a:off x="8321040" y="3383280"/>
            <a:ext cx="228600" cy="228600"/>
          </a:xfrm>
          <a:prstGeom prst="ellipse">
            <a:avLst/>
          </a:prstGeom>
          <a:solidFill>
            <a:schemeClr val="accent2"/>
          </a:solidFill>
          <a:ln w="12700">
            <a:solidFill>
              <a:schemeClr val="accent2"/>
            </a:solidFill>
            <a:prstDash val="solid"/>
          </a:ln>
        </p:spPr>
      </p:sp>
      <p:sp>
        <p:nvSpPr>
          <p:cNvPr id="23" name="txt-121"/>
          <p:cNvSpPr txBox="1"/>
          <p:nvPr/>
        </p:nvSpPr>
        <p:spPr>
          <a:xfrm>
            <a:off x="8321040" y="3749040"/>
            <a:ext cx="3017520" cy="2011680"/>
          </a:xfrm>
          <a:prstGeom prst="rect">
            <a:avLst/>
          </a:prstGeom>
          <a:noFill/>
          <a:ln/>
        </p:spPr>
        <p:txBody>
          <a:bodyPr wrap="square" lIns="0" tIns="0" rIns="0" bIns="0" rtlCol="0" anchor="t"/>
          <a:lstStyle/>
          <a:p>
            <a:pPr indent="0" marL="0">
              <a:buNone/>
            </a:pPr>
            <a:r>
              <a:rPr lang="en-US" sz="1400" dirty="0">
                <a:solidFill>
                  <a:schemeClr val="tx1"/>
                </a:solidFill>
              </a:rPr>
              <a:t>£51,800 of income from 28 uncoded episodes, plus £97,020 of agency spend in 8 weeks, spread across every ward.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18 agreed KPIs: one definition, one owner, one source each</a:t>
            </a:r>
            <a:endParaRPr lang="en-US" sz="2800" dirty="0"/>
          </a:p>
        </p:txBody>
      </p:sp>
      <p:sp>
        <p:nvSpPr>
          <p:cNvPr id="3" name="card-122"/>
          <p:cNvSpPr/>
          <p:nvPr/>
        </p:nvSpPr>
        <p:spPr>
          <a:xfrm>
            <a:off x="548640" y="1325880"/>
            <a:ext cx="3474720" cy="2011680"/>
          </a:xfrm>
          <a:prstGeom prst="roundRect">
            <a:avLst>
              <a:gd name="adj" fmla="val 3636"/>
            </a:avLst>
          </a:prstGeom>
          <a:solidFill>
            <a:schemeClr val="bg2"/>
          </a:solidFill>
          <a:ln w="12700">
            <a:solidFill>
              <a:schemeClr val="bg2"/>
            </a:solidFill>
            <a:prstDash val="solid"/>
          </a:ln>
        </p:spPr>
      </p:sp>
      <p:sp>
        <p:nvSpPr>
          <p:cNvPr id="4" name="txt-123"/>
          <p:cNvSpPr txBox="1"/>
          <p:nvPr/>
        </p:nvSpPr>
        <p:spPr>
          <a:xfrm>
            <a:off x="777240" y="146304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Emergency</a:t>
            </a:r>
            <a:endParaRPr lang="en-US" sz="1600" dirty="0"/>
          </a:p>
        </p:txBody>
      </p:sp>
      <p:sp>
        <p:nvSpPr>
          <p:cNvPr id="5" name="list-124"/>
          <p:cNvSpPr txBox="1"/>
          <p:nvPr/>
        </p:nvSpPr>
        <p:spPr>
          <a:xfrm>
            <a:off x="777240" y="1874520"/>
            <a:ext cx="3108960" cy="137160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K01 ED 4-hour</a:t>
            </a:r>
            <a:endParaRPr lang="en-US" sz="1300" dirty="0"/>
          </a:p>
          <a:p>
            <a:pPr marL="342900" indent="-342900">
              <a:spcAft>
                <a:spcPts val="200"/>
              </a:spcAft>
              <a:buSzPct val="100000"/>
              <a:buChar char="•"/>
            </a:pPr>
            <a:r>
              <a:rPr lang="en-US" sz="1300" dirty="0">
                <a:solidFill>
                  <a:schemeClr val="tx1"/>
                </a:solidFill>
              </a:rPr>
              <a:t>K02 LWBS</a:t>
            </a:r>
            <a:endParaRPr lang="en-US" sz="1300" dirty="0"/>
          </a:p>
        </p:txBody>
      </p:sp>
      <p:sp>
        <p:nvSpPr>
          <p:cNvPr id="6" name="card-125"/>
          <p:cNvSpPr/>
          <p:nvPr/>
        </p:nvSpPr>
        <p:spPr>
          <a:xfrm>
            <a:off x="4297680" y="1325880"/>
            <a:ext cx="3474720" cy="2011680"/>
          </a:xfrm>
          <a:prstGeom prst="roundRect">
            <a:avLst>
              <a:gd name="adj" fmla="val 3636"/>
            </a:avLst>
          </a:prstGeom>
          <a:solidFill>
            <a:schemeClr val="bg2"/>
          </a:solidFill>
          <a:ln w="12700">
            <a:solidFill>
              <a:schemeClr val="bg2"/>
            </a:solidFill>
            <a:prstDash val="solid"/>
          </a:ln>
        </p:spPr>
      </p:sp>
      <p:sp>
        <p:nvSpPr>
          <p:cNvPr id="7" name="txt-126"/>
          <p:cNvSpPr txBox="1"/>
          <p:nvPr/>
        </p:nvSpPr>
        <p:spPr>
          <a:xfrm>
            <a:off x="4526280" y="146304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Elective</a:t>
            </a:r>
            <a:endParaRPr lang="en-US" sz="1600" dirty="0"/>
          </a:p>
        </p:txBody>
      </p:sp>
      <p:sp>
        <p:nvSpPr>
          <p:cNvPr id="8" name="list-127"/>
          <p:cNvSpPr txBox="1"/>
          <p:nvPr/>
        </p:nvSpPr>
        <p:spPr>
          <a:xfrm>
            <a:off x="4526280" y="1874520"/>
            <a:ext cx="3108960" cy="137160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K04 RTT 18 weeks</a:t>
            </a:r>
            <a:endParaRPr lang="en-US" sz="1300" dirty="0"/>
          </a:p>
          <a:p>
            <a:pPr marL="342900" indent="-342900">
              <a:spcAft>
                <a:spcPts val="200"/>
              </a:spcAft>
              <a:buSzPct val="100000"/>
              <a:buChar char="•"/>
            </a:pPr>
            <a:r>
              <a:rPr lang="en-US" sz="1300" dirty="0">
                <a:solidFill>
                  <a:schemeClr val="tx1"/>
                </a:solidFill>
              </a:rPr>
              <a:t>K05 Waiting list size</a:t>
            </a:r>
            <a:endParaRPr lang="en-US" sz="1300" dirty="0"/>
          </a:p>
          <a:p>
            <a:pPr marL="342900" indent="-342900">
              <a:spcAft>
                <a:spcPts val="200"/>
              </a:spcAft>
              <a:buSzPct val="100000"/>
              <a:buChar char="•"/>
            </a:pPr>
            <a:r>
              <a:rPr lang="en-US" sz="1300" dirty="0">
                <a:solidFill>
                  <a:schemeClr val="tx1"/>
                </a:solidFill>
              </a:rPr>
              <a:t>K06 52-week waits</a:t>
            </a:r>
            <a:endParaRPr lang="en-US" sz="1300" dirty="0"/>
          </a:p>
          <a:p>
            <a:pPr marL="342900" indent="-342900">
              <a:spcAft>
                <a:spcPts val="200"/>
              </a:spcAft>
              <a:buSzPct val="100000"/>
              <a:buChar char="•"/>
            </a:pPr>
            <a:r>
              <a:rPr lang="en-US" sz="1300" dirty="0">
                <a:solidFill>
                  <a:schemeClr val="tx1"/>
                </a:solidFill>
              </a:rPr>
              <a:t>K07 Theatre utilisation</a:t>
            </a:r>
            <a:endParaRPr lang="en-US" sz="1300" dirty="0"/>
          </a:p>
          <a:p>
            <a:pPr marL="342900" indent="-342900">
              <a:spcAft>
                <a:spcPts val="200"/>
              </a:spcAft>
              <a:buSzPct val="100000"/>
              <a:buChar char="•"/>
            </a:pPr>
            <a:r>
              <a:rPr lang="en-US" sz="1300" dirty="0">
                <a:solidFill>
                  <a:schemeClr val="tx1"/>
                </a:solidFill>
              </a:rPr>
              <a:t>K08 Cancelled operations</a:t>
            </a:r>
            <a:endParaRPr lang="en-US" sz="1300" dirty="0"/>
          </a:p>
        </p:txBody>
      </p:sp>
      <p:sp>
        <p:nvSpPr>
          <p:cNvPr id="9" name="card-128"/>
          <p:cNvSpPr/>
          <p:nvPr/>
        </p:nvSpPr>
        <p:spPr>
          <a:xfrm>
            <a:off x="8046720" y="1325880"/>
            <a:ext cx="3474720" cy="2011680"/>
          </a:xfrm>
          <a:prstGeom prst="roundRect">
            <a:avLst>
              <a:gd name="adj" fmla="val 3636"/>
            </a:avLst>
          </a:prstGeom>
          <a:solidFill>
            <a:schemeClr val="bg2"/>
          </a:solidFill>
          <a:ln w="12700">
            <a:solidFill>
              <a:schemeClr val="bg2"/>
            </a:solidFill>
            <a:prstDash val="solid"/>
          </a:ln>
        </p:spPr>
      </p:sp>
      <p:sp>
        <p:nvSpPr>
          <p:cNvPr id="10" name="txt-129"/>
          <p:cNvSpPr txBox="1"/>
          <p:nvPr/>
        </p:nvSpPr>
        <p:spPr>
          <a:xfrm>
            <a:off x="8275320" y="146304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Outpatients and flow</a:t>
            </a:r>
            <a:endParaRPr lang="en-US" sz="1600" dirty="0"/>
          </a:p>
        </p:txBody>
      </p:sp>
      <p:sp>
        <p:nvSpPr>
          <p:cNvPr id="11" name="list-130"/>
          <p:cNvSpPr txBox="1"/>
          <p:nvPr/>
        </p:nvSpPr>
        <p:spPr>
          <a:xfrm>
            <a:off x="8275320" y="1874520"/>
            <a:ext cx="3108960" cy="137160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K03 DNA rate</a:t>
            </a:r>
            <a:endParaRPr lang="en-US" sz="1300" dirty="0"/>
          </a:p>
          <a:p>
            <a:pPr marL="342900" indent="-342900">
              <a:spcAft>
                <a:spcPts val="200"/>
              </a:spcAft>
              <a:buSzPct val="100000"/>
              <a:buChar char="•"/>
            </a:pPr>
            <a:r>
              <a:rPr lang="en-US" sz="1300" dirty="0">
                <a:solidFill>
                  <a:schemeClr val="tx1"/>
                </a:solidFill>
              </a:rPr>
              <a:t>K09 Bed occupancy</a:t>
            </a:r>
            <a:endParaRPr lang="en-US" sz="1300" dirty="0"/>
          </a:p>
          <a:p>
            <a:pPr marL="342900" indent="-342900">
              <a:spcAft>
                <a:spcPts val="200"/>
              </a:spcAft>
              <a:buSzPct val="100000"/>
              <a:buChar char="•"/>
            </a:pPr>
            <a:r>
              <a:rPr lang="en-US" sz="1300" dirty="0">
                <a:solidFill>
                  <a:schemeClr val="tx1"/>
                </a:solidFill>
              </a:rPr>
              <a:t>K10 Length of stay</a:t>
            </a:r>
            <a:endParaRPr lang="en-US" sz="1300" dirty="0"/>
          </a:p>
        </p:txBody>
      </p:sp>
      <p:sp>
        <p:nvSpPr>
          <p:cNvPr id="12" name="card-131"/>
          <p:cNvSpPr/>
          <p:nvPr/>
        </p:nvSpPr>
        <p:spPr>
          <a:xfrm>
            <a:off x="548640" y="3520440"/>
            <a:ext cx="3474720" cy="2011680"/>
          </a:xfrm>
          <a:prstGeom prst="roundRect">
            <a:avLst>
              <a:gd name="adj" fmla="val 3636"/>
            </a:avLst>
          </a:prstGeom>
          <a:solidFill>
            <a:schemeClr val="bg2"/>
          </a:solidFill>
          <a:ln w="12700">
            <a:solidFill>
              <a:schemeClr val="bg2"/>
            </a:solidFill>
            <a:prstDash val="solid"/>
          </a:ln>
        </p:spPr>
      </p:sp>
      <p:sp>
        <p:nvSpPr>
          <p:cNvPr id="13" name="txt-132"/>
          <p:cNvSpPr txBox="1"/>
          <p:nvPr/>
        </p:nvSpPr>
        <p:spPr>
          <a:xfrm>
            <a:off x="777240" y="365760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Quality</a:t>
            </a:r>
            <a:endParaRPr lang="en-US" sz="1600" dirty="0"/>
          </a:p>
        </p:txBody>
      </p:sp>
      <p:sp>
        <p:nvSpPr>
          <p:cNvPr id="14" name="list-133"/>
          <p:cNvSpPr txBox="1"/>
          <p:nvPr/>
        </p:nvSpPr>
        <p:spPr>
          <a:xfrm>
            <a:off x="777240" y="4069080"/>
            <a:ext cx="3108960" cy="137160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K11 30-day readmissions</a:t>
            </a:r>
            <a:endParaRPr lang="en-US" sz="1300" dirty="0"/>
          </a:p>
          <a:p>
            <a:pPr marL="342900" indent="-342900">
              <a:spcAft>
                <a:spcPts val="200"/>
              </a:spcAft>
              <a:buSzPct val="100000"/>
              <a:buChar char="•"/>
            </a:pPr>
            <a:r>
              <a:rPr lang="en-US" sz="1300" dirty="0">
                <a:solidFill>
                  <a:schemeClr val="tx1"/>
                </a:solidFill>
              </a:rPr>
              <a:t>K15 Safety incidents</a:t>
            </a:r>
            <a:endParaRPr lang="en-US" sz="1300" dirty="0"/>
          </a:p>
        </p:txBody>
      </p:sp>
      <p:sp>
        <p:nvSpPr>
          <p:cNvPr id="15" name="card-134"/>
          <p:cNvSpPr/>
          <p:nvPr/>
        </p:nvSpPr>
        <p:spPr>
          <a:xfrm>
            <a:off x="4297680" y="3520440"/>
            <a:ext cx="3474720" cy="2011680"/>
          </a:xfrm>
          <a:prstGeom prst="roundRect">
            <a:avLst>
              <a:gd name="adj" fmla="val 3636"/>
            </a:avLst>
          </a:prstGeom>
          <a:solidFill>
            <a:schemeClr val="bg2"/>
          </a:solidFill>
          <a:ln w="12700">
            <a:solidFill>
              <a:schemeClr val="bg2"/>
            </a:solidFill>
            <a:prstDash val="solid"/>
          </a:ln>
        </p:spPr>
      </p:sp>
      <p:sp>
        <p:nvSpPr>
          <p:cNvPr id="16" name="txt-135"/>
          <p:cNvSpPr txBox="1"/>
          <p:nvPr/>
        </p:nvSpPr>
        <p:spPr>
          <a:xfrm>
            <a:off x="4526280" y="365760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Finance and workforce</a:t>
            </a:r>
            <a:endParaRPr lang="en-US" sz="1600" dirty="0"/>
          </a:p>
        </p:txBody>
      </p:sp>
      <p:sp>
        <p:nvSpPr>
          <p:cNvPr id="17" name="list-136"/>
          <p:cNvSpPr txBox="1"/>
          <p:nvPr/>
        </p:nvSpPr>
        <p:spPr>
          <a:xfrm>
            <a:off x="4526280" y="4069080"/>
            <a:ext cx="3108960" cy="137160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K12 HRG coding</a:t>
            </a:r>
            <a:endParaRPr lang="en-US" sz="1300" dirty="0"/>
          </a:p>
          <a:p>
            <a:pPr marL="342900" indent="-342900">
              <a:spcAft>
                <a:spcPts val="200"/>
              </a:spcAft>
              <a:buSzPct val="100000"/>
              <a:buChar char="•"/>
            </a:pPr>
            <a:r>
              <a:rPr lang="en-US" sz="1300" dirty="0">
                <a:solidFill>
                  <a:schemeClr val="tx1"/>
                </a:solidFill>
              </a:rPr>
              <a:t>K13 Agency spend</a:t>
            </a:r>
            <a:endParaRPr lang="en-US" sz="1300" dirty="0"/>
          </a:p>
          <a:p>
            <a:pPr marL="342900" indent="-342900">
              <a:spcAft>
                <a:spcPts val="200"/>
              </a:spcAft>
              <a:buSzPct val="100000"/>
              <a:buChar char="•"/>
            </a:pPr>
            <a:r>
              <a:rPr lang="en-US" sz="1300" dirty="0">
                <a:solidFill>
                  <a:schemeClr val="tx1"/>
                </a:solidFill>
              </a:rPr>
              <a:t>K14 Cost per episode</a:t>
            </a:r>
            <a:endParaRPr lang="en-US" sz="1300" dirty="0"/>
          </a:p>
          <a:p>
            <a:pPr marL="342900" indent="-342900">
              <a:spcAft>
                <a:spcPts val="200"/>
              </a:spcAft>
              <a:buSzPct val="100000"/>
              <a:buChar char="•"/>
            </a:pPr>
            <a:r>
              <a:rPr lang="en-US" sz="1300" dirty="0">
                <a:solidFill>
                  <a:schemeClr val="tx1"/>
                </a:solidFill>
              </a:rPr>
              <a:t>K16 Vacancy rate</a:t>
            </a:r>
            <a:endParaRPr lang="en-US" sz="1300" dirty="0"/>
          </a:p>
        </p:txBody>
      </p:sp>
      <p:sp>
        <p:nvSpPr>
          <p:cNvPr id="18" name="card-137"/>
          <p:cNvSpPr/>
          <p:nvPr/>
        </p:nvSpPr>
        <p:spPr>
          <a:xfrm>
            <a:off x="8046720" y="3520440"/>
            <a:ext cx="3474720" cy="2011680"/>
          </a:xfrm>
          <a:prstGeom prst="roundRect">
            <a:avLst>
              <a:gd name="adj" fmla="val 3636"/>
            </a:avLst>
          </a:prstGeom>
          <a:solidFill>
            <a:schemeClr val="bg2"/>
          </a:solidFill>
          <a:ln w="12700">
            <a:solidFill>
              <a:schemeClr val="bg2"/>
            </a:solidFill>
            <a:prstDash val="solid"/>
          </a:ln>
        </p:spPr>
      </p:sp>
      <p:sp>
        <p:nvSpPr>
          <p:cNvPr id="19" name="txt-138"/>
          <p:cNvSpPr txBox="1"/>
          <p:nvPr/>
        </p:nvSpPr>
        <p:spPr>
          <a:xfrm>
            <a:off x="8275320" y="3657600"/>
            <a:ext cx="3017520" cy="365760"/>
          </a:xfrm>
          <a:prstGeom prst="rect">
            <a:avLst/>
          </a:prstGeom>
          <a:noFill/>
          <a:ln/>
        </p:spPr>
        <p:txBody>
          <a:bodyPr wrap="square" lIns="0" tIns="0" rIns="0" bIns="0" rtlCol="0" anchor="t"/>
          <a:lstStyle/>
          <a:p>
            <a:pPr indent="0" marL="0">
              <a:buNone/>
            </a:pPr>
            <a:r>
              <a:rPr lang="en-US" sz="1600" b="1" dirty="0">
                <a:solidFill>
                  <a:schemeClr val="accent1"/>
                </a:solidFill>
              </a:rPr>
              <a:t>Data quality</a:t>
            </a:r>
            <a:endParaRPr lang="en-US" sz="1600" dirty="0"/>
          </a:p>
        </p:txBody>
      </p:sp>
      <p:sp>
        <p:nvSpPr>
          <p:cNvPr id="20" name="list-139"/>
          <p:cNvSpPr txBox="1"/>
          <p:nvPr/>
        </p:nvSpPr>
        <p:spPr>
          <a:xfrm>
            <a:off x="8275320" y="4069080"/>
            <a:ext cx="3108960" cy="1371600"/>
          </a:xfrm>
          <a:prstGeom prst="rect">
            <a:avLst/>
          </a:prstGeom>
          <a:noFill/>
          <a:ln/>
        </p:spPr>
        <p:txBody>
          <a:bodyPr wrap="square" lIns="0" tIns="0" rIns="0" bIns="0" rtlCol="0" anchor="t"/>
          <a:lstStyle/>
          <a:p>
            <a:pPr marL="342900" indent="-342900">
              <a:spcAft>
                <a:spcPts val="200"/>
              </a:spcAft>
              <a:buSzPct val="100000"/>
              <a:buChar char="•"/>
            </a:pPr>
            <a:r>
              <a:rPr lang="en-US" sz="1300" dirty="0">
                <a:solidFill>
                  <a:schemeClr val="tx1"/>
                </a:solidFill>
              </a:rPr>
              <a:t>K17 DQMI / DSP Toolkit</a:t>
            </a:r>
            <a:endParaRPr lang="en-US" sz="1300" dirty="0"/>
          </a:p>
          <a:p>
            <a:pPr marL="342900" indent="-342900">
              <a:spcAft>
                <a:spcPts val="200"/>
              </a:spcAft>
              <a:buSzPct val="100000"/>
              <a:buChar char="•"/>
            </a:pPr>
            <a:r>
              <a:rPr lang="en-US" sz="1300" dirty="0">
                <a:solidFill>
                  <a:schemeClr val="tx1"/>
                </a:solidFill>
              </a:rPr>
              <a:t>K18 RTT clock accuracy</a:t>
            </a:r>
            <a:endParaRPr lang="en-US" sz="1300" dirty="0"/>
          </a:p>
        </p:txBody>
      </p:sp>
      <p:sp>
        <p:nvSpPr>
          <p:cNvPr id="21" name="card-140"/>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22" name="txt-141"/>
          <p:cNvSpPr txBox="1"/>
          <p:nvPr/>
        </p:nvSpPr>
        <p:spPr>
          <a:xfrm>
            <a:off x="777240" y="5715000"/>
            <a:ext cx="10698480" cy="548640"/>
          </a:xfrm>
          <a:prstGeom prst="rect">
            <a:avLst/>
          </a:prstGeom>
          <a:noFill/>
          <a:ln/>
        </p:spPr>
        <p:txBody>
          <a:bodyPr wrap="square" lIns="0" tIns="0" rIns="0" bIns="0" rtlCol="0" anchor="ctr"/>
          <a:lstStyle/>
          <a:p>
            <a:pPr indent="0" marL="0">
              <a:buNone/>
            </a:pPr>
            <a:r>
              <a:rPr lang="en-US" sz="1400" b="1" dirty="0">
                <a:solidFill>
                  <a:schemeClr val="bg1"/>
                </a:solidFill>
              </a:rPr>
              <a:t>Example: DNA rate = DNA ÷ (ATT + DNA + CAN + REF) × 100 = 13.1%  ·  Owner: Performance Manager  ·  Source: PAS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Power BI: six pages, one Snowflake source</a:t>
            </a:r>
            <a:endParaRPr lang="en-US" sz="2800" dirty="0"/>
          </a:p>
        </p:txBody>
      </p:sp>
      <p:pic>
        <p:nvPicPr>
          <p:cNvPr id="3" name="img-142" descr="Power BI Executive Summary page">    </p:cNvPr>
          <p:cNvPicPr>
            <a:picLocks noChangeAspect="1"/>
          </p:cNvPicPr>
          <p:nvPr/>
        </p:nvPicPr>
        <p:blipFill>
          <a:blip r:embed="rId1"/>
          <a:stretch>
            <a:fillRect/>
          </a:stretch>
        </p:blipFill>
        <p:spPr>
          <a:xfrm>
            <a:off x="548640" y="1325880"/>
            <a:ext cx="6309360" cy="3552301"/>
          </a:xfrm>
          <a:prstGeom prst="rect">
            <a:avLst/>
          </a:prstGeom>
        </p:spPr>
      </p:pic>
      <p:pic>
        <p:nvPicPr>
          <p:cNvPr id="4" name="img-143" descr="Power BI Outpatient Waiting page">    </p:cNvPr>
          <p:cNvPicPr>
            <a:picLocks noChangeAspect="1"/>
          </p:cNvPicPr>
          <p:nvPr/>
        </p:nvPicPr>
        <p:blipFill>
          <a:blip r:embed="rId2"/>
          <a:stretch>
            <a:fillRect/>
          </a:stretch>
        </p:blipFill>
        <p:spPr>
          <a:xfrm>
            <a:off x="7132320" y="1325880"/>
            <a:ext cx="4480560" cy="2497783"/>
          </a:xfrm>
          <a:prstGeom prst="rect">
            <a:avLst/>
          </a:prstGeom>
        </p:spPr>
      </p:pic>
      <p:sp>
        <p:nvSpPr>
          <p:cNvPr id="5" name="txt-144"/>
          <p:cNvSpPr txBox="1"/>
          <p:nvPr/>
        </p:nvSpPr>
        <p:spPr>
          <a:xfrm>
            <a:off x="548640" y="4983480"/>
            <a:ext cx="6309360" cy="457200"/>
          </a:xfrm>
          <a:prstGeom prst="rect">
            <a:avLst/>
          </a:prstGeom>
          <a:noFill/>
          <a:ln/>
        </p:spPr>
        <p:txBody>
          <a:bodyPr wrap="square" lIns="0" tIns="0" rIns="0" bIns="0" rtlCol="0" anchor="t"/>
          <a:lstStyle/>
          <a:p>
            <a:pPr indent="0" marL="0">
              <a:buNone/>
            </a:pPr>
            <a:r>
              <a:rPr lang="en-US" sz="1200" i="1" dirty="0">
                <a:solidFill>
                  <a:schemeClr val="accent5"/>
                </a:solidFill>
              </a:rPr>
              <a:t>Executive Summary: seven KPI cards, RTT RAG tile, elective theatre utilisation against GIRFT 85%</a:t>
            </a:r>
            <a:endParaRPr lang="en-US" sz="1200" dirty="0"/>
          </a:p>
        </p:txBody>
      </p:sp>
      <p:sp>
        <p:nvSpPr>
          <p:cNvPr id="6" name="txt-145"/>
          <p:cNvSpPr txBox="1"/>
          <p:nvPr/>
        </p:nvSpPr>
        <p:spPr>
          <a:xfrm>
            <a:off x="7132320" y="3931920"/>
            <a:ext cx="4480560" cy="457200"/>
          </a:xfrm>
          <a:prstGeom prst="rect">
            <a:avLst/>
          </a:prstGeom>
          <a:noFill/>
          <a:ln/>
        </p:spPr>
        <p:txBody>
          <a:bodyPr wrap="square" lIns="0" tIns="0" rIns="0" bIns="0" rtlCol="0" anchor="t"/>
          <a:lstStyle/>
          <a:p>
            <a:pPr indent="0" marL="0">
              <a:buNone/>
            </a:pPr>
            <a:r>
              <a:rPr lang="en-US" sz="1200" i="1" dirty="0">
                <a:solidFill>
                  <a:schemeClr val="accent5"/>
                </a:solidFill>
              </a:rPr>
              <a:t>Outpatient Waiting: DNA by specialty, rolling 12-week wait, 12-week waiting list forecast</a:t>
            </a:r>
            <a:endParaRPr lang="en-US" sz="1200" dirty="0"/>
          </a:p>
        </p:txBody>
      </p:sp>
      <p:sp>
        <p:nvSpPr>
          <p:cNvPr id="7" name="list-146"/>
          <p:cNvSpPr txBox="1"/>
          <p:nvPr/>
        </p:nvSpPr>
        <p:spPr>
          <a:xfrm>
            <a:off x="7132320" y="4526280"/>
            <a:ext cx="448056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6 pages: Executive, ED, Outpatients, Capacity, Finance, Workforce</a:t>
            </a:r>
            <a:endParaRPr lang="en-US" sz="1400" dirty="0"/>
          </a:p>
          <a:p>
            <a:pPr marL="342900" indent="-342900">
              <a:spcAft>
                <a:spcPts val="400"/>
              </a:spcAft>
              <a:buSzPct val="100000"/>
              <a:buChar char="•"/>
            </a:pPr>
            <a:r>
              <a:rPr lang="en-US" sz="1400" dirty="0">
                <a:solidFill>
                  <a:schemeClr val="tx1"/>
                </a:solidFill>
              </a:rPr>
              <a:t>12 DAX measures that reconcile to the framework (DNA 13.13, RTT 41.98)</a:t>
            </a:r>
            <a:endParaRPr lang="en-US" sz="1400" dirty="0"/>
          </a:p>
          <a:p>
            <a:pPr marL="342900" indent="-342900">
              <a:spcAft>
                <a:spcPts val="400"/>
              </a:spcAft>
              <a:buSzPct val="100000"/>
              <a:buChar char="•"/>
            </a:pPr>
            <a:r>
              <a:rPr lang="en-US" sz="1400" dirty="0">
                <a:solidFill>
                  <a:schemeClr val="tx1"/>
                </a:solidFill>
              </a:rPr>
              <a:t>Every KPI shown against its target line</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Tableau Public and the pipeline: the same figures in every tool</a:t>
            </a:r>
            <a:endParaRPr lang="en-US" sz="2800" dirty="0"/>
          </a:p>
        </p:txBody>
      </p:sp>
      <p:pic>
        <p:nvPicPr>
          <p:cNvPr id="3" name="img-147" descr="Tableau Public executive dashboard">    </p:cNvPr>
          <p:cNvPicPr>
            <a:picLocks noChangeAspect="1"/>
          </p:cNvPicPr>
          <p:nvPr/>
        </p:nvPicPr>
        <p:blipFill>
          <a:blip r:embed="rId1"/>
          <a:stretch>
            <a:fillRect/>
          </a:stretch>
        </p:blipFill>
        <p:spPr>
          <a:xfrm>
            <a:off x="548640" y="1325880"/>
            <a:ext cx="5394960" cy="4518522"/>
          </a:xfrm>
          <a:prstGeom prst="rect">
            <a:avLst/>
          </a:prstGeom>
        </p:spPr>
      </p:pic>
      <p:sp>
        <p:nvSpPr>
          <p:cNvPr id="4" name="card-148"/>
          <p:cNvSpPr/>
          <p:nvPr/>
        </p:nvSpPr>
        <p:spPr>
          <a:xfrm>
            <a:off x="6400800" y="1371600"/>
            <a:ext cx="5212080" cy="1097280"/>
          </a:xfrm>
          <a:prstGeom prst="roundRect">
            <a:avLst>
              <a:gd name="adj" fmla="val 6667"/>
            </a:avLst>
          </a:prstGeom>
          <a:solidFill>
            <a:schemeClr val="bg2"/>
          </a:solidFill>
          <a:ln w="12700">
            <a:solidFill>
              <a:schemeClr val="bg2"/>
            </a:solidFill>
            <a:prstDash val="solid"/>
          </a:ln>
        </p:spPr>
      </p:sp>
      <p:sp>
        <p:nvSpPr>
          <p:cNvPr id="5" name="txt-149"/>
          <p:cNvSpPr txBox="1"/>
          <p:nvPr/>
        </p:nvSpPr>
        <p:spPr>
          <a:xfrm>
            <a:off x="6629400" y="1481328"/>
            <a:ext cx="4846320" cy="411480"/>
          </a:xfrm>
          <a:prstGeom prst="rect">
            <a:avLst/>
          </a:prstGeom>
          <a:noFill/>
          <a:ln/>
        </p:spPr>
        <p:txBody>
          <a:bodyPr wrap="square" lIns="0" tIns="0" rIns="0" bIns="0" rtlCol="0" anchor="t"/>
          <a:lstStyle/>
          <a:p>
            <a:pPr indent="0" marL="0">
              <a:buNone/>
            </a:pPr>
            <a:r>
              <a:rPr lang="en-US" sz="1600" b="1" dirty="0">
                <a:solidFill>
                  <a:schemeClr val="tx2"/>
                </a:solidFill>
              </a:rPr>
              <a:t>Source systems</a:t>
            </a:r>
            <a:endParaRPr lang="en-US" sz="1600" dirty="0"/>
          </a:p>
        </p:txBody>
      </p:sp>
      <p:sp>
        <p:nvSpPr>
          <p:cNvPr id="6" name="txt-150"/>
          <p:cNvSpPr txBox="1"/>
          <p:nvPr/>
        </p:nvSpPr>
        <p:spPr>
          <a:xfrm>
            <a:off x="6629400" y="1901952"/>
            <a:ext cx="4846320" cy="457200"/>
          </a:xfrm>
          <a:prstGeom prst="rect">
            <a:avLst/>
          </a:prstGeom>
          <a:noFill/>
          <a:ln/>
        </p:spPr>
        <p:txBody>
          <a:bodyPr wrap="square" lIns="0" tIns="0" rIns="0" bIns="0" rtlCol="0" anchor="t"/>
          <a:lstStyle/>
          <a:p>
            <a:pPr indent="0" marL="0">
              <a:buNone/>
            </a:pPr>
            <a:r>
              <a:rPr lang="en-US" sz="1300" dirty="0">
                <a:solidFill>
                  <a:schemeClr val="tx2"/>
                </a:solidFill>
              </a:rPr>
              <a:t>PAS · EHR · EDIS · TMS · Workforce</a:t>
            </a:r>
            <a:endParaRPr lang="en-US" sz="1300" dirty="0"/>
          </a:p>
        </p:txBody>
      </p:sp>
      <p:sp>
        <p:nvSpPr>
          <p:cNvPr id="7" name="arrow-151"/>
          <p:cNvSpPr/>
          <p:nvPr/>
        </p:nvSpPr>
        <p:spPr>
          <a:xfrm>
            <a:off x="8778240" y="2505456"/>
            <a:ext cx="457200" cy="338328"/>
          </a:xfrm>
          <a:prstGeom prst="downArrow">
            <a:avLst/>
          </a:prstGeom>
          <a:solidFill>
            <a:schemeClr val="accent1"/>
          </a:solidFill>
          <a:ln w="12700">
            <a:solidFill>
              <a:schemeClr val="accent1"/>
            </a:solidFill>
            <a:prstDash val="solid"/>
          </a:ln>
        </p:spPr>
      </p:sp>
      <p:sp>
        <p:nvSpPr>
          <p:cNvPr id="8" name="card-152"/>
          <p:cNvSpPr/>
          <p:nvPr/>
        </p:nvSpPr>
        <p:spPr>
          <a:xfrm>
            <a:off x="6400800" y="2880360"/>
            <a:ext cx="5212080" cy="1097280"/>
          </a:xfrm>
          <a:prstGeom prst="roundRect">
            <a:avLst>
              <a:gd name="adj" fmla="val 6667"/>
            </a:avLst>
          </a:prstGeom>
          <a:solidFill>
            <a:schemeClr val="tx2"/>
          </a:solidFill>
          <a:ln w="12700">
            <a:solidFill>
              <a:schemeClr val="tx2"/>
            </a:solidFill>
            <a:prstDash val="solid"/>
          </a:ln>
        </p:spPr>
      </p:sp>
      <p:sp>
        <p:nvSpPr>
          <p:cNvPr id="9" name="txt-153"/>
          <p:cNvSpPr txBox="1"/>
          <p:nvPr/>
        </p:nvSpPr>
        <p:spPr>
          <a:xfrm>
            <a:off x="6629400" y="2990088"/>
            <a:ext cx="4846320" cy="411480"/>
          </a:xfrm>
          <a:prstGeom prst="rect">
            <a:avLst/>
          </a:prstGeom>
          <a:noFill/>
          <a:ln/>
        </p:spPr>
        <p:txBody>
          <a:bodyPr wrap="square" lIns="0" tIns="0" rIns="0" bIns="0" rtlCol="0" anchor="t"/>
          <a:lstStyle/>
          <a:p>
            <a:pPr indent="0" marL="0">
              <a:buNone/>
            </a:pPr>
            <a:r>
              <a:rPr lang="en-US" sz="1600" b="1" dirty="0">
                <a:solidFill>
                  <a:schemeClr val="bg1"/>
                </a:solidFill>
              </a:rPr>
              <a:t>Snowflake: BRONINGS_ANALYTICS</a:t>
            </a:r>
            <a:endParaRPr lang="en-US" sz="1600" dirty="0"/>
          </a:p>
        </p:txBody>
      </p:sp>
      <p:sp>
        <p:nvSpPr>
          <p:cNvPr id="10" name="txt-154"/>
          <p:cNvSpPr txBox="1"/>
          <p:nvPr/>
        </p:nvSpPr>
        <p:spPr>
          <a:xfrm>
            <a:off x="6629400" y="3410712"/>
            <a:ext cx="4846320" cy="457200"/>
          </a:xfrm>
          <a:prstGeom prst="rect">
            <a:avLst/>
          </a:prstGeom>
          <a:noFill/>
          <a:ln/>
        </p:spPr>
        <p:txBody>
          <a:bodyPr wrap="square" lIns="0" tIns="0" rIns="0" bIns="0" rtlCol="0" anchor="t"/>
          <a:lstStyle/>
          <a:p>
            <a:pPr indent="0" marL="0">
              <a:buNone/>
            </a:pPr>
            <a:r>
              <a:rPr lang="en-US" sz="1300" dirty="0">
                <a:solidFill>
                  <a:schemeClr val="bg1"/>
                </a:solidFill>
              </a:rPr>
              <a:t>Raw tables → cleaned views (DQ rules applied once)</a:t>
            </a:r>
            <a:endParaRPr lang="en-US" sz="1300" dirty="0"/>
          </a:p>
        </p:txBody>
      </p:sp>
      <p:sp>
        <p:nvSpPr>
          <p:cNvPr id="11" name="arrow-155"/>
          <p:cNvSpPr/>
          <p:nvPr/>
        </p:nvSpPr>
        <p:spPr>
          <a:xfrm>
            <a:off x="8778240" y="4014216"/>
            <a:ext cx="457200" cy="338328"/>
          </a:xfrm>
          <a:prstGeom prst="downArrow">
            <a:avLst/>
          </a:prstGeom>
          <a:solidFill>
            <a:schemeClr val="accent1"/>
          </a:solidFill>
          <a:ln w="12700">
            <a:solidFill>
              <a:schemeClr val="accent1"/>
            </a:solidFill>
            <a:prstDash val="solid"/>
          </a:ln>
        </p:spPr>
      </p:sp>
      <p:sp>
        <p:nvSpPr>
          <p:cNvPr id="12" name="card-156"/>
          <p:cNvSpPr/>
          <p:nvPr/>
        </p:nvSpPr>
        <p:spPr>
          <a:xfrm>
            <a:off x="6400800" y="4389120"/>
            <a:ext cx="5212080" cy="1097280"/>
          </a:xfrm>
          <a:prstGeom prst="roundRect">
            <a:avLst>
              <a:gd name="adj" fmla="val 6667"/>
            </a:avLst>
          </a:prstGeom>
          <a:solidFill>
            <a:schemeClr val="accent1"/>
          </a:solidFill>
          <a:ln w="12700">
            <a:solidFill>
              <a:schemeClr val="accent1"/>
            </a:solidFill>
            <a:prstDash val="solid"/>
          </a:ln>
        </p:spPr>
      </p:sp>
      <p:sp>
        <p:nvSpPr>
          <p:cNvPr id="13" name="txt-157"/>
          <p:cNvSpPr txBox="1"/>
          <p:nvPr/>
        </p:nvSpPr>
        <p:spPr>
          <a:xfrm>
            <a:off x="6629400" y="4498848"/>
            <a:ext cx="4846320" cy="411480"/>
          </a:xfrm>
          <a:prstGeom prst="rect">
            <a:avLst/>
          </a:prstGeom>
          <a:noFill/>
          <a:ln/>
        </p:spPr>
        <p:txBody>
          <a:bodyPr wrap="square" lIns="0" tIns="0" rIns="0" bIns="0" rtlCol="0" anchor="t"/>
          <a:lstStyle/>
          <a:p>
            <a:pPr indent="0" marL="0">
              <a:buNone/>
            </a:pPr>
            <a:r>
              <a:rPr lang="en-US" sz="1600" b="1" dirty="0">
                <a:solidFill>
                  <a:schemeClr val="bg1"/>
                </a:solidFill>
              </a:rPr>
              <a:t>Outputs</a:t>
            </a:r>
            <a:endParaRPr lang="en-US" sz="1600" dirty="0"/>
          </a:p>
        </p:txBody>
      </p:sp>
      <p:sp>
        <p:nvSpPr>
          <p:cNvPr id="14" name="txt-158"/>
          <p:cNvSpPr txBox="1"/>
          <p:nvPr/>
        </p:nvSpPr>
        <p:spPr>
          <a:xfrm>
            <a:off x="6629400" y="4919472"/>
            <a:ext cx="4846320" cy="457200"/>
          </a:xfrm>
          <a:prstGeom prst="rect">
            <a:avLst/>
          </a:prstGeom>
          <a:noFill/>
          <a:ln/>
        </p:spPr>
        <p:txBody>
          <a:bodyPr wrap="square" lIns="0" tIns="0" rIns="0" bIns="0" rtlCol="0" anchor="t"/>
          <a:lstStyle/>
          <a:p>
            <a:pPr indent="0" marL="0">
              <a:buNone/>
            </a:pPr>
            <a:r>
              <a:rPr lang="en-US" sz="1300" dirty="0">
                <a:solidFill>
                  <a:schemeClr val="bg1"/>
                </a:solidFill>
              </a:rPr>
              <a:t>Power BI Board report · Tableau Public · Python Monday report</a:t>
            </a:r>
            <a:endParaRPr lang="en-US" sz="1300" dirty="0"/>
          </a:p>
        </p:txBody>
      </p:sp>
      <p:sp>
        <p:nvSpPr>
          <p:cNvPr id="15" name="txt-159"/>
          <p:cNvSpPr txBox="1"/>
          <p:nvPr/>
        </p:nvSpPr>
        <p:spPr>
          <a:xfrm>
            <a:off x="6400800" y="5852160"/>
            <a:ext cx="5212080" cy="457200"/>
          </a:xfrm>
          <a:prstGeom prst="rect">
            <a:avLst/>
          </a:prstGeom>
          <a:noFill/>
          <a:ln/>
        </p:spPr>
        <p:txBody>
          <a:bodyPr wrap="square" lIns="0" tIns="0" rIns="0" bIns="0" rtlCol="0" anchor="t"/>
          <a:lstStyle/>
          <a:p>
            <a:pPr indent="0" marL="0">
              <a:buNone/>
            </a:pPr>
            <a:r>
              <a:rPr lang="en-US" sz="1200" i="1" dirty="0">
                <a:solidFill>
                  <a:schemeClr val="accent5"/>
                </a:solidFill>
              </a:rPr>
              <a:t>Tableau shows RTT 41.98 · DNA 13.13 · ED 83.14 · Agency 16.57: identical to Power BI and the Python report.</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2800" b="1" dirty="0">
                <a:solidFill>
                  <a:schemeClr val="tx2"/>
                </a:solidFill>
              </a:rPr>
              <a:t>Three decisions for the Board today</a:t>
            </a:r>
            <a:endParaRPr lang="en-US" sz="2800" dirty="0"/>
          </a:p>
        </p:txBody>
      </p:sp>
      <p:sp>
        <p:nvSpPr>
          <p:cNvPr id="3" name="card-160"/>
          <p:cNvSpPr/>
          <p:nvPr/>
        </p:nvSpPr>
        <p:spPr>
          <a:xfrm>
            <a:off x="548640" y="1325880"/>
            <a:ext cx="11064240" cy="1463040"/>
          </a:xfrm>
          <a:prstGeom prst="roundRect">
            <a:avLst>
              <a:gd name="adj" fmla="val 5000"/>
            </a:avLst>
          </a:prstGeom>
          <a:solidFill>
            <a:schemeClr val="bg2"/>
          </a:solidFill>
          <a:ln w="12700">
            <a:solidFill>
              <a:schemeClr val="bg2"/>
            </a:solidFill>
            <a:prstDash val="solid"/>
          </a:ln>
        </p:spPr>
      </p:sp>
      <p:sp>
        <p:nvSpPr>
          <p:cNvPr id="4" name="num-161"/>
          <p:cNvSpPr/>
          <p:nvPr/>
        </p:nvSpPr>
        <p:spPr>
          <a:xfrm>
            <a:off x="777240" y="1554480"/>
            <a:ext cx="548640" cy="548640"/>
          </a:xfrm>
          <a:prstGeom prst="ellipse">
            <a:avLst/>
          </a:prstGeom>
          <a:solidFill>
            <a:schemeClr val="accent1"/>
          </a:solidFill>
          <a:ln w="12700">
            <a:solidFill>
              <a:schemeClr val="accent1"/>
            </a:solidFill>
            <a:prstDash val="solid"/>
          </a:ln>
        </p:spPr>
      </p:sp>
      <p:sp>
        <p:nvSpPr>
          <p:cNvPr id="5" name="txt-162"/>
          <p:cNvSpPr txBox="1"/>
          <p:nvPr/>
        </p:nvSpPr>
        <p:spPr>
          <a:xfrm>
            <a:off x="777240" y="1554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6" name="txt-163"/>
          <p:cNvSpPr txBox="1"/>
          <p:nvPr/>
        </p:nvSpPr>
        <p:spPr>
          <a:xfrm>
            <a:off x="1554480" y="1463040"/>
            <a:ext cx="6035040" cy="411480"/>
          </a:xfrm>
          <a:prstGeom prst="rect">
            <a:avLst/>
          </a:prstGeom>
          <a:noFill/>
          <a:ln/>
        </p:spPr>
        <p:txBody>
          <a:bodyPr wrap="square" lIns="0" tIns="0" rIns="0" bIns="0" rtlCol="0" anchor="t"/>
          <a:lstStyle/>
          <a:p>
            <a:pPr indent="0" marL="0">
              <a:buNone/>
            </a:pPr>
            <a:r>
              <a:rPr lang="en-US" sz="1600" b="1" dirty="0">
                <a:solidFill>
                  <a:schemeClr val="tx2"/>
                </a:solidFill>
              </a:rPr>
              <a:t>Validate and treat the longest waiters: Orthopaedics first</a:t>
            </a:r>
            <a:endParaRPr lang="en-US" sz="1600" dirty="0"/>
          </a:p>
        </p:txBody>
      </p:sp>
      <p:sp>
        <p:nvSpPr>
          <p:cNvPr id="7" name="txt-164"/>
          <p:cNvSpPr txBox="1"/>
          <p:nvPr/>
        </p:nvSpPr>
        <p:spPr>
          <a:xfrm>
            <a:off x="1554480" y="1874520"/>
            <a:ext cx="6035040" cy="822960"/>
          </a:xfrm>
          <a:prstGeom prst="rect">
            <a:avLst/>
          </a:prstGeom>
          <a:noFill/>
          <a:ln/>
        </p:spPr>
        <p:txBody>
          <a:bodyPr wrap="square" lIns="0" tIns="0" rIns="0" bIns="0" rtlCol="0" anchor="t"/>
          <a:lstStyle/>
          <a:p>
            <a:pPr indent="0" marL="0">
              <a:buNone/>
            </a:pPr>
            <a:r>
              <a:rPr lang="en-US" sz="1300" dirty="0">
                <a:solidFill>
                  <a:schemeClr val="tx1"/>
                </a:solidFill>
              </a:rPr>
              <a:t>Full PTL validation within 2 weeks. Treat the 11 patients at 40+ weeks. Text reminders and partial booking to halve DNAs (about 38 slots a quarter).</a:t>
            </a:r>
            <a:endParaRPr lang="en-US" sz="1300" dirty="0"/>
          </a:p>
        </p:txBody>
      </p:sp>
      <p:sp>
        <p:nvSpPr>
          <p:cNvPr id="8" name="card-165"/>
          <p:cNvSpPr/>
          <p:nvPr/>
        </p:nvSpPr>
        <p:spPr>
          <a:xfrm>
            <a:off x="7863840" y="1463040"/>
            <a:ext cx="3611880" cy="1188720"/>
          </a:xfrm>
          <a:prstGeom prst="roundRect">
            <a:avLst>
              <a:gd name="adj" fmla="val 6154"/>
            </a:avLst>
          </a:prstGeom>
          <a:solidFill>
            <a:schemeClr val="tx2"/>
          </a:solidFill>
          <a:ln w="12700">
            <a:solidFill>
              <a:schemeClr val="tx2"/>
            </a:solidFill>
            <a:prstDash val="solid"/>
          </a:ln>
        </p:spPr>
      </p:sp>
      <p:sp>
        <p:nvSpPr>
          <p:cNvPr id="9" name="txt-166"/>
          <p:cNvSpPr txBox="1"/>
          <p:nvPr/>
        </p:nvSpPr>
        <p:spPr>
          <a:xfrm>
            <a:off x="8046720" y="1508760"/>
            <a:ext cx="3291840" cy="457200"/>
          </a:xfrm>
          <a:prstGeom prst="rect">
            <a:avLst/>
          </a:prstGeom>
          <a:noFill/>
          <a:ln/>
        </p:spPr>
        <p:txBody>
          <a:bodyPr wrap="square" lIns="0" tIns="0" rIns="0" bIns="0" rtlCol="0" anchor="t"/>
          <a:lstStyle/>
          <a:p>
            <a:pPr indent="0" marL="0">
              <a:buNone/>
            </a:pPr>
            <a:r>
              <a:rPr lang="en-US" sz="2200" b="1" dirty="0">
                <a:solidFill>
                  <a:schemeClr val="bg1"/>
                </a:solidFill>
              </a:rPr>
              <a:t>£126,000</a:t>
            </a:r>
            <a:endParaRPr lang="en-US" sz="2200" dirty="0"/>
          </a:p>
        </p:txBody>
      </p:sp>
      <p:sp>
        <p:nvSpPr>
          <p:cNvPr id="10" name="txt-167"/>
          <p:cNvSpPr txBox="1"/>
          <p:nvPr/>
        </p:nvSpPr>
        <p:spPr>
          <a:xfrm>
            <a:off x="8046720" y="1965960"/>
            <a:ext cx="3291840" cy="457200"/>
          </a:xfrm>
          <a:prstGeom prst="rect">
            <a:avLst/>
          </a:prstGeom>
          <a:noFill/>
          <a:ln/>
        </p:spPr>
        <p:txBody>
          <a:bodyPr wrap="square" lIns="0" tIns="0" rIns="0" bIns="0" rtlCol="0" anchor="t"/>
          <a:lstStyle/>
          <a:p>
            <a:pPr indent="0" marL="0">
              <a:buNone/>
            </a:pPr>
            <a:r>
              <a:rPr lang="en-US" sz="1100" dirty="0">
                <a:solidFill>
                  <a:schemeClr val="bg2"/>
                </a:solidFill>
              </a:rPr>
              <a:t>of 52-week penalties avoided (9 patients × £14,000); exposure up to £4.37m on the full list</a:t>
            </a:r>
            <a:endParaRPr lang="en-US" sz="1100" dirty="0"/>
          </a:p>
        </p:txBody>
      </p:sp>
      <p:sp>
        <p:nvSpPr>
          <p:cNvPr id="11" name="txt-168"/>
          <p:cNvSpPr txBox="1"/>
          <p:nvPr/>
        </p:nvSpPr>
        <p:spPr>
          <a:xfrm>
            <a:off x="8046720" y="2350008"/>
            <a:ext cx="3291840" cy="274320"/>
          </a:xfrm>
          <a:prstGeom prst="rect">
            <a:avLst/>
          </a:prstGeom>
          <a:noFill/>
          <a:ln/>
        </p:spPr>
        <p:txBody>
          <a:bodyPr wrap="square" lIns="0" tIns="0" rIns="0" bIns="0" rtlCol="0" anchor="t"/>
          <a:lstStyle/>
          <a:p>
            <a:pPr indent="0" marL="0">
              <a:buNone/>
            </a:pPr>
            <a:r>
              <a:rPr lang="en-US" sz="1100" b="1" dirty="0">
                <a:solidFill>
                  <a:schemeClr val="accent6"/>
                </a:solidFill>
              </a:rPr>
              <a:t>Owner: Director of Operations</a:t>
            </a:r>
            <a:endParaRPr lang="en-US" sz="1100" dirty="0"/>
          </a:p>
        </p:txBody>
      </p:sp>
      <p:sp>
        <p:nvSpPr>
          <p:cNvPr id="12" name="card-169"/>
          <p:cNvSpPr/>
          <p:nvPr/>
        </p:nvSpPr>
        <p:spPr>
          <a:xfrm>
            <a:off x="548640" y="2971800"/>
            <a:ext cx="11064240" cy="1463040"/>
          </a:xfrm>
          <a:prstGeom prst="roundRect">
            <a:avLst>
              <a:gd name="adj" fmla="val 5000"/>
            </a:avLst>
          </a:prstGeom>
          <a:solidFill>
            <a:schemeClr val="bg2"/>
          </a:solidFill>
          <a:ln w="12700">
            <a:solidFill>
              <a:schemeClr val="bg2"/>
            </a:solidFill>
            <a:prstDash val="solid"/>
          </a:ln>
        </p:spPr>
      </p:sp>
      <p:sp>
        <p:nvSpPr>
          <p:cNvPr id="13" name="num-170"/>
          <p:cNvSpPr/>
          <p:nvPr/>
        </p:nvSpPr>
        <p:spPr>
          <a:xfrm>
            <a:off x="777240" y="3200400"/>
            <a:ext cx="548640" cy="548640"/>
          </a:xfrm>
          <a:prstGeom prst="ellipse">
            <a:avLst/>
          </a:prstGeom>
          <a:solidFill>
            <a:schemeClr val="accent1"/>
          </a:solidFill>
          <a:ln w="12700">
            <a:solidFill>
              <a:schemeClr val="accent1"/>
            </a:solidFill>
            <a:prstDash val="solid"/>
          </a:ln>
        </p:spPr>
      </p:sp>
      <p:sp>
        <p:nvSpPr>
          <p:cNvPr id="14" name="txt-171"/>
          <p:cNvSpPr txBox="1"/>
          <p:nvPr/>
        </p:nvSpPr>
        <p:spPr>
          <a:xfrm>
            <a:off x="777240" y="32004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5" name="txt-172"/>
          <p:cNvSpPr txBox="1"/>
          <p:nvPr/>
        </p:nvSpPr>
        <p:spPr>
          <a:xfrm>
            <a:off x="1554480" y="3108960"/>
            <a:ext cx="6035040" cy="411480"/>
          </a:xfrm>
          <a:prstGeom prst="rect">
            <a:avLst/>
          </a:prstGeom>
          <a:noFill/>
          <a:ln/>
        </p:spPr>
        <p:txBody>
          <a:bodyPr wrap="square" lIns="0" tIns="0" rIns="0" bIns="0" rtlCol="0" anchor="t"/>
          <a:lstStyle/>
          <a:p>
            <a:pPr indent="0" marL="0">
              <a:buNone/>
            </a:pPr>
            <a:r>
              <a:rPr lang="en-US" sz="1600" b="1" dirty="0">
                <a:solidFill>
                  <a:schemeClr val="tx2"/>
                </a:solidFill>
              </a:rPr>
              <a:t>Recover elective theatre capacity to the GIRFT standard</a:t>
            </a:r>
            <a:endParaRPr lang="en-US" sz="1600" dirty="0"/>
          </a:p>
        </p:txBody>
      </p:sp>
      <p:sp>
        <p:nvSpPr>
          <p:cNvPr id="16" name="txt-173"/>
          <p:cNvSpPr txBox="1"/>
          <p:nvPr/>
        </p:nvSpPr>
        <p:spPr>
          <a:xfrm>
            <a:off x="1554480" y="3520440"/>
            <a:ext cx="6035040" cy="822960"/>
          </a:xfrm>
          <a:prstGeom prst="rect">
            <a:avLst/>
          </a:prstGeom>
          <a:noFill/>
          <a:ln/>
        </p:spPr>
        <p:txBody>
          <a:bodyPr wrap="square" lIns="0" tIns="0" rIns="0" bIns="0" rtlCol="0" anchor="t"/>
          <a:lstStyle/>
          <a:p>
            <a:pPr indent="0" marL="0">
              <a:buNone/>
            </a:pPr>
            <a:r>
              <a:rPr lang="en-US" sz="1300" dirty="0">
                <a:solidFill>
                  <a:schemeClr val="tx1"/>
                </a:solidFill>
              </a:rPr>
              <a:t>Adopt the single GIRFT measure. Reallocate under-used T1–T3 sessions to the Orthopaedics and Urology backlog. Target 75% by Q2.</a:t>
            </a:r>
            <a:endParaRPr lang="en-US" sz="1300" dirty="0"/>
          </a:p>
        </p:txBody>
      </p:sp>
      <p:sp>
        <p:nvSpPr>
          <p:cNvPr id="17" name="card-174"/>
          <p:cNvSpPr/>
          <p:nvPr/>
        </p:nvSpPr>
        <p:spPr>
          <a:xfrm>
            <a:off x="7863840" y="3108960"/>
            <a:ext cx="3611880" cy="1188720"/>
          </a:xfrm>
          <a:prstGeom prst="roundRect">
            <a:avLst>
              <a:gd name="adj" fmla="val 6154"/>
            </a:avLst>
          </a:prstGeom>
          <a:solidFill>
            <a:schemeClr val="tx2"/>
          </a:solidFill>
          <a:ln w="12700">
            <a:solidFill>
              <a:schemeClr val="tx2"/>
            </a:solidFill>
            <a:prstDash val="solid"/>
          </a:ln>
        </p:spPr>
      </p:sp>
      <p:sp>
        <p:nvSpPr>
          <p:cNvPr id="18" name="txt-175"/>
          <p:cNvSpPr txBox="1"/>
          <p:nvPr/>
        </p:nvSpPr>
        <p:spPr>
          <a:xfrm>
            <a:off x="8046720" y="3154680"/>
            <a:ext cx="3291840" cy="457200"/>
          </a:xfrm>
          <a:prstGeom prst="rect">
            <a:avLst/>
          </a:prstGeom>
          <a:noFill/>
          <a:ln/>
        </p:spPr>
        <p:txBody>
          <a:bodyPr wrap="square" lIns="0" tIns="0" rIns="0" bIns="0" rtlCol="0" anchor="t"/>
          <a:lstStyle/>
          <a:p>
            <a:pPr indent="0" marL="0">
              <a:buNone/>
            </a:pPr>
            <a:r>
              <a:rPr lang="en-US" sz="2200" b="1" dirty="0">
                <a:solidFill>
                  <a:schemeClr val="bg1"/>
                </a:solidFill>
              </a:rPr>
              <a:t>£1.1m a year</a:t>
            </a:r>
            <a:endParaRPr lang="en-US" sz="2200" dirty="0"/>
          </a:p>
        </p:txBody>
      </p:sp>
      <p:sp>
        <p:nvSpPr>
          <p:cNvPr id="19" name="txt-176"/>
          <p:cNvSpPr txBox="1"/>
          <p:nvPr/>
        </p:nvSpPr>
        <p:spPr>
          <a:xfrm>
            <a:off x="8046720" y="3611880"/>
            <a:ext cx="3291840" cy="457200"/>
          </a:xfrm>
          <a:prstGeom prst="rect">
            <a:avLst/>
          </a:prstGeom>
          <a:noFill/>
          <a:ln/>
        </p:spPr>
        <p:txBody>
          <a:bodyPr wrap="square" lIns="0" tIns="0" rIns="0" bIns="0" rtlCol="0" anchor="t"/>
          <a:lstStyle/>
          <a:p>
            <a:pPr indent="0" marL="0">
              <a:buNone/>
            </a:pPr>
            <a:r>
              <a:rPr lang="en-US" sz="1100" dirty="0">
                <a:solidFill>
                  <a:schemeClr val="bg2"/>
                </a:solidFill>
              </a:rPr>
              <a:t>of capacity recovered (each +1 point ≈ £8,650 a month)</a:t>
            </a:r>
            <a:endParaRPr lang="en-US" sz="1100" dirty="0"/>
          </a:p>
        </p:txBody>
      </p:sp>
      <p:sp>
        <p:nvSpPr>
          <p:cNvPr id="20" name="txt-177"/>
          <p:cNvSpPr txBox="1"/>
          <p:nvPr/>
        </p:nvSpPr>
        <p:spPr>
          <a:xfrm>
            <a:off x="8046720" y="3995928"/>
            <a:ext cx="3291840" cy="274320"/>
          </a:xfrm>
          <a:prstGeom prst="rect">
            <a:avLst/>
          </a:prstGeom>
          <a:noFill/>
          <a:ln/>
        </p:spPr>
        <p:txBody>
          <a:bodyPr wrap="square" lIns="0" tIns="0" rIns="0" bIns="0" rtlCol="0" anchor="t"/>
          <a:lstStyle/>
          <a:p>
            <a:pPr indent="0" marL="0">
              <a:buNone/>
            </a:pPr>
            <a:r>
              <a:rPr lang="en-US" sz="1100" b="1" dirty="0">
                <a:solidFill>
                  <a:schemeClr val="accent6"/>
                </a:solidFill>
              </a:rPr>
              <a:t>Owner: Theatres Manager</a:t>
            </a:r>
            <a:endParaRPr lang="en-US" sz="1100" dirty="0"/>
          </a:p>
        </p:txBody>
      </p:sp>
      <p:sp>
        <p:nvSpPr>
          <p:cNvPr id="21" name="card-178"/>
          <p:cNvSpPr/>
          <p:nvPr/>
        </p:nvSpPr>
        <p:spPr>
          <a:xfrm>
            <a:off x="548640" y="4617720"/>
            <a:ext cx="11064240" cy="1463040"/>
          </a:xfrm>
          <a:prstGeom prst="roundRect">
            <a:avLst>
              <a:gd name="adj" fmla="val 5000"/>
            </a:avLst>
          </a:prstGeom>
          <a:solidFill>
            <a:schemeClr val="bg2"/>
          </a:solidFill>
          <a:ln w="12700">
            <a:solidFill>
              <a:schemeClr val="bg2"/>
            </a:solidFill>
            <a:prstDash val="solid"/>
          </a:ln>
        </p:spPr>
      </p:sp>
      <p:sp>
        <p:nvSpPr>
          <p:cNvPr id="22" name="num-179"/>
          <p:cNvSpPr/>
          <p:nvPr/>
        </p:nvSpPr>
        <p:spPr>
          <a:xfrm>
            <a:off x="777240" y="4846320"/>
            <a:ext cx="548640" cy="548640"/>
          </a:xfrm>
          <a:prstGeom prst="ellipse">
            <a:avLst/>
          </a:prstGeom>
          <a:solidFill>
            <a:schemeClr val="accent1"/>
          </a:solidFill>
          <a:ln w="12700">
            <a:solidFill>
              <a:schemeClr val="accent1"/>
            </a:solidFill>
            <a:prstDash val="solid"/>
          </a:ln>
        </p:spPr>
      </p:sp>
      <p:sp>
        <p:nvSpPr>
          <p:cNvPr id="23" name="txt-180"/>
          <p:cNvSpPr txBox="1"/>
          <p:nvPr/>
        </p:nvSpPr>
        <p:spPr>
          <a:xfrm>
            <a:off x="777240" y="484632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4" name="txt-181"/>
          <p:cNvSpPr txBox="1"/>
          <p:nvPr/>
        </p:nvSpPr>
        <p:spPr>
          <a:xfrm>
            <a:off x="1554480" y="4754880"/>
            <a:ext cx="6035040" cy="411480"/>
          </a:xfrm>
          <a:prstGeom prst="rect">
            <a:avLst/>
          </a:prstGeom>
          <a:noFill/>
          <a:ln/>
        </p:spPr>
        <p:txBody>
          <a:bodyPr wrap="square" lIns="0" tIns="0" rIns="0" bIns="0" rtlCol="0" anchor="t"/>
          <a:lstStyle/>
          <a:p>
            <a:pPr indent="0" marL="0">
              <a:buNone/>
            </a:pPr>
            <a:r>
              <a:rPr lang="en-US" sz="1600" b="1" dirty="0">
                <a:solidFill>
                  <a:schemeClr val="tx2"/>
                </a:solidFill>
              </a:rPr>
              <a:t>Fix the data that drives income and the review</a:t>
            </a:r>
            <a:endParaRPr lang="en-US" sz="1600" dirty="0"/>
          </a:p>
        </p:txBody>
      </p:sp>
      <p:sp>
        <p:nvSpPr>
          <p:cNvPr id="25" name="txt-182"/>
          <p:cNvSpPr txBox="1"/>
          <p:nvPr/>
        </p:nvSpPr>
        <p:spPr>
          <a:xfrm>
            <a:off x="1554480" y="5166360"/>
            <a:ext cx="6035040" cy="822960"/>
          </a:xfrm>
          <a:prstGeom prst="rect">
            <a:avLst/>
          </a:prstGeom>
          <a:noFill/>
          <a:ln/>
        </p:spPr>
        <p:txBody>
          <a:bodyPr wrap="square" lIns="0" tIns="0" rIns="0" bIns="0" rtlCol="0" anchor="t"/>
          <a:lstStyle/>
          <a:p>
            <a:pPr indent="0" marL="0">
              <a:buNone/>
            </a:pPr>
            <a:r>
              <a:rPr lang="en-US" sz="1300" dirty="0">
                <a:solidFill>
                  <a:schemeClr val="tx1"/>
                </a:solidFill>
              </a:rPr>
              <a:t>Code the 28 HRG episodes before the SUS deadline. Complete ED and readmission flags. Agency approval control. DQMI to 75.</a:t>
            </a:r>
            <a:endParaRPr lang="en-US" sz="1300" dirty="0"/>
          </a:p>
        </p:txBody>
      </p:sp>
      <p:sp>
        <p:nvSpPr>
          <p:cNvPr id="26" name="card-183"/>
          <p:cNvSpPr/>
          <p:nvPr/>
        </p:nvSpPr>
        <p:spPr>
          <a:xfrm>
            <a:off x="7863840" y="4754880"/>
            <a:ext cx="3611880" cy="1188720"/>
          </a:xfrm>
          <a:prstGeom prst="roundRect">
            <a:avLst>
              <a:gd name="adj" fmla="val 6154"/>
            </a:avLst>
          </a:prstGeom>
          <a:solidFill>
            <a:schemeClr val="tx2"/>
          </a:solidFill>
          <a:ln w="12700">
            <a:solidFill>
              <a:schemeClr val="tx2"/>
            </a:solidFill>
            <a:prstDash val="solid"/>
          </a:ln>
        </p:spPr>
      </p:sp>
      <p:sp>
        <p:nvSpPr>
          <p:cNvPr id="27" name="txt-184"/>
          <p:cNvSpPr txBox="1"/>
          <p:nvPr/>
        </p:nvSpPr>
        <p:spPr>
          <a:xfrm>
            <a:off x="8046720" y="4800600"/>
            <a:ext cx="3291840" cy="457200"/>
          </a:xfrm>
          <a:prstGeom prst="rect">
            <a:avLst/>
          </a:prstGeom>
          <a:noFill/>
          <a:ln/>
        </p:spPr>
        <p:txBody>
          <a:bodyPr wrap="square" lIns="0" tIns="0" rIns="0" bIns="0" rtlCol="0" anchor="t"/>
          <a:lstStyle/>
          <a:p>
            <a:pPr indent="0" marL="0">
              <a:buNone/>
            </a:pPr>
            <a:r>
              <a:rPr lang="en-US" sz="2200" b="1" dirty="0">
                <a:solidFill>
                  <a:schemeClr val="bg1"/>
                </a:solidFill>
              </a:rPr>
              <a:t>£435,000 a year</a:t>
            </a:r>
            <a:endParaRPr lang="en-US" sz="2200" dirty="0"/>
          </a:p>
        </p:txBody>
      </p:sp>
      <p:sp>
        <p:nvSpPr>
          <p:cNvPr id="28" name="txt-185"/>
          <p:cNvSpPr txBox="1"/>
          <p:nvPr/>
        </p:nvSpPr>
        <p:spPr>
          <a:xfrm>
            <a:off x="8046720" y="5257800"/>
            <a:ext cx="3291840" cy="457200"/>
          </a:xfrm>
          <a:prstGeom prst="rect">
            <a:avLst/>
          </a:prstGeom>
          <a:noFill/>
          <a:ln/>
        </p:spPr>
        <p:txBody>
          <a:bodyPr wrap="square" lIns="0" tIns="0" rIns="0" bIns="0" rtlCol="0" anchor="t"/>
          <a:lstStyle/>
          <a:p>
            <a:pPr indent="0" marL="0">
              <a:buNone/>
            </a:pPr>
            <a:r>
              <a:rPr lang="en-US" sz="1100" dirty="0">
                <a:solidFill>
                  <a:schemeClr val="bg2"/>
                </a:solidFill>
              </a:rPr>
              <a:t>£110k HRG coding (£51.8k in 6 months) + £325k agency to 8%; protects £380k CQUIN</a:t>
            </a:r>
            <a:endParaRPr lang="en-US" sz="1100" dirty="0"/>
          </a:p>
        </p:txBody>
      </p:sp>
      <p:sp>
        <p:nvSpPr>
          <p:cNvPr id="29" name="txt-186"/>
          <p:cNvSpPr txBox="1"/>
          <p:nvPr/>
        </p:nvSpPr>
        <p:spPr>
          <a:xfrm>
            <a:off x="8046720" y="5641848"/>
            <a:ext cx="3291840" cy="274320"/>
          </a:xfrm>
          <a:prstGeom prst="rect">
            <a:avLst/>
          </a:prstGeom>
          <a:noFill/>
          <a:ln/>
        </p:spPr>
        <p:txBody>
          <a:bodyPr wrap="square" lIns="0" tIns="0" rIns="0" bIns="0" rtlCol="0" anchor="t"/>
          <a:lstStyle/>
          <a:p>
            <a:pPr indent="0" marL="0">
              <a:buNone/>
            </a:pPr>
            <a:r>
              <a:rPr lang="en-US" sz="1100" b="1" dirty="0">
                <a:solidFill>
                  <a:schemeClr val="accent6"/>
                </a:solidFill>
              </a:rPr>
              <a:t>Owner: Finance BP and IG Lead</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Bronings NHS Board">
  <a:themeElements>
    <a:clrScheme name="Bronings NHS Board">
      <a:dk1>
        <a:srgbClr val="231F20"/>
      </a:dk1>
      <a:lt1>
        <a:srgbClr val="FFFFFF"/>
      </a:lt1>
      <a:dk2>
        <a:srgbClr val="003087"/>
      </a:dk2>
      <a:lt2>
        <a:srgbClr val="E8EDEE"/>
      </a:lt2>
      <a:accent1>
        <a:srgbClr val="005EB8"/>
      </a:accent1>
      <a:accent2>
        <a:srgbClr val="DA291C"/>
      </a:accent2>
      <a:accent3>
        <a:srgbClr val="FFB81C"/>
      </a:accent3>
      <a:accent4>
        <a:srgbClr val="009639"/>
      </a:accent4>
      <a:accent5>
        <a:srgbClr val="425563"/>
      </a:accent5>
      <a:accent6>
        <a:srgbClr val="41B6E6"/>
      </a:accent6>
      <a:hlink>
        <a:srgbClr val="005EB8"/>
      </a:hlink>
      <a:folHlink>
        <a:srgbClr val="330072"/>
      </a:folHlink>
    </a:clrScheme>
    <a:fontScheme name="Bronings NHS Board">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Bronings University Hospital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 presentation: performance, data quality and recovery</dc:title>
  <dc:subject>PptxGenJS Presentation</dc:subject>
  <dc:creator>Lucky Ukeni</dc:creator>
  <cp:lastModifiedBy>Lucky Ukeni</cp:lastModifiedBy>
  <cp:revision>1</cp:revision>
  <dcterms:created xsi:type="dcterms:W3CDTF">2026-10-23T18:25:03Z</dcterms:created>
  <dcterms:modified xsi:type="dcterms:W3CDTF">2026-10-23T18:25:03Z</dcterms:modified>
</cp:coreProperties>
</file>